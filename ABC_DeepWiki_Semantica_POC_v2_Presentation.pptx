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EDADC"/>
                </a:solidFill>
                <a:latin typeface="Aptos"/>
              </a:rPr>
              <a:t>ENTERPRISE ARCHITECTURE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64208"/>
            <a:ext cx="10607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ABC + DeepWiki +
Semantica POC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5468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AE4EE"/>
                </a:solidFill>
                <a:latin typeface="Aptos"/>
              </a:rPr>
              <a:t>From Markdown documentation to an evidence-backed, governed application landscape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069080"/>
            <a:ext cx="2468880" cy="45720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Project overview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2636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0B5CC"/>
                </a:solidFill>
                <a:latin typeface="Aptos"/>
              </a:rPr>
              <a:t>Knowledge graph • provenance • governance • impact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What V2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584"/>
                </a:solidFill>
                <a:latin typeface="Aptos"/>
              </a:rPr>
              <a:t>A regenerated proof of concept that converts DeepWiki documentation into a governed, queryable enterprise graph.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2900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3429000" cy="109728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1F37"/>
                </a:solidFill>
                <a:latin typeface="Aptos"/>
              </a:rPr>
              <a:t>Traceable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290779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5303E"/>
                </a:solidFill>
                <a:latin typeface="Aptos"/>
              </a:rPr>
              <a:t>Every graph fact can retain source evidence and extraction metadata.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2148840"/>
            <a:ext cx="342900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2148840"/>
            <a:ext cx="3429000" cy="109728"/>
          </a:xfrm>
          <a:prstGeom prst="rect">
            <a:avLst/>
          </a:prstGeom>
          <a:solidFill>
            <a:srgbClr val="2575B1"/>
          </a:solidFill>
          <a:ln>
            <a:solidFill>
              <a:srgbClr val="257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514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1F37"/>
                </a:solidFill>
                <a:latin typeface="Aptos"/>
              </a:rPr>
              <a:t>Architecture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035808"/>
            <a:ext cx="290779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5303E"/>
                </a:solidFill>
                <a:latin typeface="Aptos"/>
              </a:rPr>
              <a:t>Rules check ownership, capability and environment completeness.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2148840"/>
            <a:ext cx="3429000" cy="23317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30183" y="2148840"/>
            <a:ext cx="3429000" cy="109728"/>
          </a:xfrm>
          <a:prstGeom prst="rect">
            <a:avLst/>
          </a:prstGeom>
          <a:solidFill>
            <a:srgbClr val="EC9930"/>
          </a:solidFill>
          <a:ln>
            <a:solidFill>
              <a:srgbClr val="EC9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8784" y="2514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1F37"/>
                </a:solidFill>
                <a:latin typeface="Aptos"/>
              </a:rPr>
              <a:t>Enterprise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3035808"/>
            <a:ext cx="290779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5303E"/>
                </a:solidFill>
                <a:latin typeface="Aptos"/>
              </a:rPr>
              <a:t>Dependency and blast-radius queries show operational and business impact.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F37"/>
                </a:solidFill>
                <a:latin typeface="Aptos"/>
              </a:rPr>
              <a:t>Validation 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2240280" cy="347472"/>
          </a:xfrm>
          <a:prstGeom prst="roundRect">
            <a:avLst/>
          </a:prstGeom>
          <a:solidFill>
            <a:srgbClr val="E5F6ED"/>
          </a:solidFill>
          <a:ln>
            <a:solidFill>
              <a:srgbClr val="E5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458968"/>
            <a:ext cx="2093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915F"/>
                </a:solidFill>
                <a:latin typeface="Aptos"/>
              </a:rPr>
              <a:t>Python syntax checks passed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5394960"/>
            <a:ext cx="1965960" cy="347472"/>
          </a:xfrm>
          <a:prstGeom prst="roundRect">
            <a:avLst/>
          </a:prstGeom>
          <a:solidFill>
            <a:srgbClr val="E5F6ED"/>
          </a:solidFill>
          <a:ln>
            <a:solidFill>
              <a:srgbClr val="E5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2" y="5458968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915F"/>
                </a:solidFill>
                <a:latin typeface="Aptos"/>
              </a:rPr>
              <a:t>ZIP integrity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From basic POC to enterprise-ready foundation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97584"/>
                </a:solidFill>
                <a:latin typeface="Aptos"/>
              </a:rPr>
              <a:t>PREVIOUS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659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2A3"/>
                </a:solidFill>
                <a:latin typeface="Aptos"/>
              </a:rPr>
              <a:t>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4892040" cy="493776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4892040" cy="493776"/>
          </a:xfrm>
          <a:prstGeom prst="roundRect">
            <a:avLst/>
          </a:prstGeom>
          <a:solidFill>
            <a:srgbClr val="E8F8F7"/>
          </a:solidFill>
          <a:ln>
            <a:solidFill>
              <a:srgbClr val="E8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9736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Core graph  —  Basic application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59736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Expanded graph  —  Dependencies, events, technology and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24505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35808"/>
            <a:ext cx="4892040" cy="493776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3035808"/>
            <a:ext cx="4892040" cy="493776"/>
          </a:xfrm>
          <a:prstGeom prst="roundRect">
            <a:avLst/>
          </a:prstGeom>
          <a:solidFill>
            <a:srgbClr val="E8F8F7"/>
          </a:solidFill>
          <a:ln>
            <a:solidFill>
              <a:srgbClr val="E8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18104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Metadata  —  Basic source 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18104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Provenance ledger  —  Source file, section, confidence and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310896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94176"/>
            <a:ext cx="4892040" cy="493776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694176"/>
            <a:ext cx="4892040" cy="493776"/>
          </a:xfrm>
          <a:prstGeom prst="roundRect">
            <a:avLst/>
          </a:prstGeom>
          <a:solidFill>
            <a:srgbClr val="E8F8F7"/>
          </a:solidFill>
          <a:ln>
            <a:solidFill>
              <a:srgbClr val="E8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76472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Storage  —  In-memory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76472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Persistent option  —  Neo4j / FalkorDB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376732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52544"/>
            <a:ext cx="4892040" cy="493776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352544"/>
            <a:ext cx="4892040" cy="493776"/>
          </a:xfrm>
          <a:prstGeom prst="roundRect">
            <a:avLst/>
          </a:prstGeom>
          <a:solidFill>
            <a:srgbClr val="E8F8F7"/>
          </a:solidFill>
          <a:ln>
            <a:solidFill>
              <a:srgbClr val="E8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Exports / visualization  —  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34840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Exports / visualization  —  RDF, Turtle, JSON-LD and interactive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3872" y="4425696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10912"/>
            <a:ext cx="4892040" cy="493776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5010912"/>
            <a:ext cx="4892040" cy="493776"/>
          </a:xfrm>
          <a:prstGeom prst="roundRect">
            <a:avLst/>
          </a:prstGeom>
          <a:solidFill>
            <a:srgbClr val="E8F8F7"/>
          </a:solidFill>
          <a:ln>
            <a:solidFill>
              <a:srgbClr val="E8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93208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Documentation  —  Basic instructions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093208"/>
            <a:ext cx="4480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Aptos"/>
              </a:rPr>
              <a:t>Production documentation  —  Detailed architecture and operating guidance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3872" y="5084064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How the solution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584"/>
                </a:solidFill>
                <a:latin typeface="Aptos"/>
              </a:rPr>
              <a:t>Semantica serves as the governed semantic layer between documentation and enterprise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423160"/>
            <a:ext cx="1737360" cy="960120"/>
          </a:xfrm>
          <a:prstGeom prst="roundRect">
            <a:avLst/>
          </a:prstGeom>
          <a:solidFill>
            <a:srgbClr val="0C1F37"/>
          </a:solidFill>
          <a:ln>
            <a:solidFill>
              <a:srgbClr val="0C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679192"/>
            <a:ext cx="15179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ABC source
repositories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872" y="2724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423160"/>
            <a:ext cx="1737360" cy="960120"/>
          </a:xfrm>
          <a:prstGeom prst="roundRect">
            <a:avLst/>
          </a:prstGeom>
          <a:solidFill>
            <a:srgbClr val="2575B1"/>
          </a:solidFill>
          <a:ln>
            <a:solidFill>
              <a:srgbClr val="257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679192"/>
            <a:ext cx="15179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DeepWiki
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724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423160"/>
            <a:ext cx="1737360" cy="960120"/>
          </a:xfrm>
          <a:prstGeom prst="round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2679192"/>
            <a:ext cx="15179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Controlled ABC
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2724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423160"/>
            <a:ext cx="1737360" cy="960120"/>
          </a:xfrm>
          <a:prstGeom prst="roundRect">
            <a:avLst/>
          </a:prstGeom>
          <a:solidFill>
            <a:srgbClr val="2575B1"/>
          </a:solidFill>
          <a:ln>
            <a:solidFill>
              <a:srgbClr val="257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2679192"/>
            <a:ext cx="15179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Semantica
knowledge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2724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2423160"/>
            <a:ext cx="1737360" cy="960120"/>
          </a:xfrm>
          <a:prstGeom prst="roundRect">
            <a:avLst/>
          </a:prstGeom>
          <a:solidFill>
            <a:srgbClr val="0C1F37"/>
          </a:solidFill>
          <a:ln>
            <a:solidFill>
              <a:srgbClr val="0C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8" y="2679192"/>
            <a:ext cx="15179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Analysis &amp;
enterprise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1F37"/>
                </a:solidFill>
                <a:latin typeface="Aptos"/>
              </a:rPr>
              <a:t>DeepWiki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303E"/>
                </a:solidFill>
                <a:latin typeface="Aptos"/>
              </a:rPr>
              <a:t>Document Q&amp;A
Documentation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114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1F37"/>
                </a:solidFill>
                <a:latin typeface="Aptos"/>
              </a:rPr>
              <a:t>Semantica capabilities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52628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526280"/>
            <a:ext cx="28620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303E"/>
                </a:solidFill>
                <a:latin typeface="Aptos"/>
              </a:rPr>
              <a:t>Entity &amp; relationship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02920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5029200"/>
            <a:ext cx="28620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303E"/>
                </a:solidFill>
                <a:latin typeface="Aptos"/>
              </a:rPr>
              <a:t>Ontology and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553212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5532120"/>
            <a:ext cx="28620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303E"/>
                </a:solidFill>
                <a:latin typeface="Aptos"/>
              </a:rPr>
              <a:t>Provenance &amp; change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1148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1F37"/>
                </a:solidFill>
                <a:latin typeface="Aptos"/>
              </a:rPr>
              <a:t>Business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2628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7" y="4526280"/>
            <a:ext cx="27249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303E"/>
                </a:solidFill>
                <a:latin typeface="Aptos"/>
              </a:rPr>
              <a:t>Dependency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02920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7" y="5029200"/>
            <a:ext cx="27249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303E"/>
                </a:solidFill>
                <a:latin typeface="Aptos"/>
              </a:rPr>
              <a:t>Impact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53212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9367" y="5532120"/>
            <a:ext cx="27249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303E"/>
                </a:solidFill>
                <a:latin typeface="Aptos"/>
              </a:rPr>
              <a:t>AI-agent queries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KEY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Provenance makes the graph trustworthy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584"/>
                </a:solidFill>
                <a:latin typeface="Aptos"/>
              </a:rPr>
              <a:t>Every relationship can be traced to documented evidence—not an unsupported model assumption.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749039" cy="3063240"/>
          </a:xfrm>
          <a:prstGeom prst="roundRect">
            <a:avLst/>
          </a:prstGeom>
          <a:solidFill>
            <a:srgbClr val="0C1F37"/>
          </a:solidFill>
          <a:ln>
            <a:solidFill>
              <a:srgbClr val="0C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6E6E6"/>
                </a:solidFill>
                <a:latin typeface="Aptos"/>
              </a:rPr>
              <a:t>GRAPH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Payment Service
depends on
Customer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38328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2148840"/>
            <a:ext cx="5806440" cy="306324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46888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A2A3"/>
                </a:solidFill>
                <a:latin typeface="Aptos"/>
              </a:rPr>
              <a:t>RETAINED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88036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584"/>
                </a:solidFill>
                <a:latin typeface="Aptos"/>
              </a:rPr>
              <a:t>Source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880360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Consolas"/>
              </a:rPr>
              <a:t>deepwiki_docs/payment-service/architecture.md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355848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584"/>
                </a:solidFill>
                <a:latin typeface="Aptos"/>
              </a:rPr>
              <a:t>Source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355848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Consolas"/>
              </a:rPr>
              <a:t>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831335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584"/>
                </a:solidFill>
                <a:latin typeface="Aptos"/>
              </a:rPr>
              <a:t>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831335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Consolas"/>
              </a:rPr>
              <a:t>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306824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584"/>
                </a:solidFill>
                <a:latin typeface="Aptos"/>
              </a:rPr>
              <a:t>Extraction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306824"/>
            <a:ext cx="3566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303E"/>
                </a:solidFill>
                <a:latin typeface="Consolas"/>
              </a:rPr>
              <a:t>abc_markdown_rules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F37"/>
                </a:solidFill>
                <a:latin typeface="Aptos"/>
              </a:rPr>
              <a:t>Result: stakeholders can verify where a relationship came from and decide whether it is reliable enough for impact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Architecture data quality is enforced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584"/>
                </a:solidFill>
                <a:latin typeface="Aptos"/>
              </a:rPr>
              <a:t>Production applications should be complete, accountable and aligned to business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749039" cy="3200400"/>
          </a:xfrm>
          <a:prstGeom prst="roundRect">
            <a:avLst/>
          </a:prstGeom>
          <a:solidFill>
            <a:srgbClr val="0C1F37"/>
          </a:solidFill>
          <a:ln>
            <a:solidFill>
              <a:srgbClr val="0C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PRODUCTION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0E0B4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63240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017520"/>
            <a:ext cx="914400" cy="347472"/>
          </a:xfrm>
          <a:prstGeom prst="roundRect">
            <a:avLst/>
          </a:prstGeom>
          <a:solidFill>
            <a:srgbClr val="F6E3C9"/>
          </a:solidFill>
          <a:ln>
            <a:solidFill>
              <a:srgbClr val="F6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3081528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5760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0E0B4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57600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Business capability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611880"/>
            <a:ext cx="914400" cy="347472"/>
          </a:xfrm>
          <a:prstGeom prst="roundRect">
            <a:avLst/>
          </a:prstGeom>
          <a:solidFill>
            <a:srgbClr val="F6E3C9"/>
          </a:solidFill>
          <a:ln>
            <a:solidFill>
              <a:srgbClr val="F6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3675888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5196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0E0B4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Environment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206240"/>
            <a:ext cx="914400" cy="347472"/>
          </a:xfrm>
          <a:prstGeom prst="roundRect">
            <a:avLst/>
          </a:prstGeom>
          <a:solidFill>
            <a:srgbClr val="F6E3C9"/>
          </a:solidFill>
          <a:ln>
            <a:solidFill>
              <a:srgbClr val="F6E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4270248"/>
            <a:ext cx="768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33172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C1F37"/>
                </a:solidFill>
                <a:latin typeface="Aptos"/>
              </a:rPr>
              <a:t>Automated governance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97180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2971800"/>
            <a:ext cx="53309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Runs through a repeatable governance script.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47472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3474720"/>
            <a:ext cx="53309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Produces output/governance_report.json.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977639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3977639"/>
            <a:ext cx="53309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Supports deterministic rules alongside OntologyEngine / SHACL-oriented validation.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48056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4480560"/>
            <a:ext cx="53309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Creates an actionable backlog of missing or invalid architecture metadata.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5349240"/>
            <a:ext cx="2057400" cy="347472"/>
          </a:xfrm>
          <a:prstGeom prst="roundRect">
            <a:avLst/>
          </a:prstGeom>
          <a:solidFill>
            <a:srgbClr val="E8F8F7"/>
          </a:solidFill>
          <a:ln>
            <a:solidFill>
              <a:srgbClr val="E8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48072" y="5413248"/>
            <a:ext cx="1911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0A2A3"/>
                </a:solidFill>
                <a:latin typeface="Aptos"/>
              </a:rPr>
              <a:t>python governance.py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CHANGE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Detect architecture drift before it becomes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584"/>
                </a:solidFill>
                <a:latin typeface="Aptos"/>
              </a:rPr>
              <a:t>Snapshots make documented changes visible as additions and removals in the landscape graph.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246888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42032"/>
            <a:ext cx="384048" cy="384048"/>
          </a:xfrm>
          <a:prstGeom prst="round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24328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1F37"/>
                </a:solidFill>
                <a:latin typeface="Aptos"/>
              </a:rPr>
              <a:t>Create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4"/>
                </a:solidFill>
                <a:latin typeface="Consolas"/>
              </a:rPr>
              <a:t>snapshot.py --output snapshots/baseline.json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31720"/>
            <a:ext cx="246888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542032"/>
            <a:ext cx="384048" cy="384048"/>
          </a:xfrm>
          <a:prstGeom prst="round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624328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546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1F37"/>
                </a:solidFill>
                <a:latin typeface="Aptos"/>
              </a:rPr>
              <a:t>Update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56616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4"/>
                </a:solidFill>
                <a:latin typeface="Consolas"/>
              </a:rPr>
              <a:t>Change DeepWiki Markdown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331720"/>
            <a:ext cx="246888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2542032"/>
            <a:ext cx="384048" cy="384048"/>
          </a:xfrm>
          <a:prstGeom prst="round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624328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1F37"/>
                </a:solidFill>
                <a:latin typeface="Aptos"/>
              </a:rPr>
              <a:t>Rebuild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4"/>
                </a:solidFill>
                <a:latin typeface="Consolas"/>
              </a:rPr>
              <a:t>run_pipeline.py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331720"/>
            <a:ext cx="246888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19" y="2542032"/>
            <a:ext cx="384048" cy="384048"/>
          </a:xfrm>
          <a:prstGeom prst="round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2624328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154680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1F37"/>
                </a:solidFill>
                <a:latin typeface="Aptos"/>
              </a:rP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566160"/>
            <a:ext cx="1965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4"/>
                </a:solidFill>
                <a:latin typeface="Consolas"/>
              </a:rPr>
              <a:t>compare_snapshots.py baseline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1F37"/>
                </a:solidFill>
                <a:latin typeface="Aptos"/>
              </a:rPr>
              <a:t>Comparison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394960"/>
            <a:ext cx="2057400" cy="347472"/>
          </a:xfrm>
          <a:prstGeom prst="roundRect">
            <a:avLst/>
          </a:prstGeom>
          <a:solidFill>
            <a:srgbClr val="E0F2FA"/>
          </a:solidFill>
          <a:ln>
            <a:solidFill>
              <a:srgbClr val="E0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458968"/>
            <a:ext cx="1911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C1F37"/>
                </a:solidFill>
                <a:latin typeface="Aptos"/>
              </a:rPr>
              <a:t>Relationships added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5394960"/>
            <a:ext cx="2148840" cy="347472"/>
          </a:xfrm>
          <a:prstGeom prst="roundRect">
            <a:avLst/>
          </a:prstGeom>
          <a:solidFill>
            <a:srgbClr val="E0F2FA"/>
          </a:solidFill>
          <a:ln>
            <a:solidFill>
              <a:srgbClr val="E0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5458968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C1F37"/>
                </a:solidFill>
                <a:latin typeface="Aptos"/>
              </a:rPr>
              <a:t>Relationships removed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5394960"/>
            <a:ext cx="1417320" cy="347472"/>
          </a:xfrm>
          <a:prstGeom prst="roundRect">
            <a:avLst/>
          </a:prstGeom>
          <a:solidFill>
            <a:srgbClr val="E0F2FA"/>
          </a:solidFill>
          <a:ln>
            <a:solidFill>
              <a:srgbClr val="E0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0952" y="5458968"/>
            <a:ext cx="1271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C1F37"/>
                </a:solidFill>
                <a:latin typeface="Aptos"/>
              </a:rPr>
              <a:t>Nodes added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5394960"/>
            <a:ext cx="1600200" cy="347472"/>
          </a:xfrm>
          <a:prstGeom prst="roundRect">
            <a:avLst/>
          </a:prstGeom>
          <a:solidFill>
            <a:srgbClr val="E0F2FA"/>
          </a:solidFill>
          <a:ln>
            <a:solidFill>
              <a:srgbClr val="E0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5432" y="5458968"/>
            <a:ext cx="1453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C1F37"/>
                </a:solidFill>
                <a:latin typeface="Aptos"/>
              </a:rPr>
              <a:t>Nodes removed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ENTERPRISE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Move from a POC graph to a persistent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584"/>
                </a:solidFill>
                <a:latin typeface="Aptos"/>
              </a:rPr>
              <a:t>Use in-memory mode for experimentation; use Neo4j or FalkorDB when the estate grows.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4892040" cy="31546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4892040" cy="118872"/>
          </a:xfrm>
          <a:prstGeom prst="rect">
            <a:avLst/>
          </a:prstGeom>
          <a:solidFill>
            <a:srgbClr val="2575B1"/>
          </a:solidFill>
          <a:ln>
            <a:solidFill>
              <a:srgbClr val="257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4688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1F37"/>
                </a:solidFill>
                <a:latin typeface="Aptos"/>
              </a:rPr>
              <a:t>Small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63240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03E"/>
                </a:solidFill>
                <a:latin typeface="Aptos"/>
              </a:rPr>
              <a:t>DeepWiki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300984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75B1"/>
                </a:solidFill>
                <a:latin typeface="Aptos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02152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03E"/>
                </a:solidFill>
                <a:latin typeface="Aptos"/>
              </a:rPr>
              <a:t>Semantica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39896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75B1"/>
                </a:solidFill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41064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03E"/>
                </a:solidFill>
                <a:latin typeface="Aptos"/>
              </a:rPr>
              <a:t>In-memory 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4892040" cy="31546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4892040" cy="118872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24688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1F37"/>
                </a:solidFill>
                <a:latin typeface="Aptos"/>
              </a:rPr>
              <a:t>Enterprise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063240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03E"/>
                </a:solidFill>
                <a:latin typeface="Aptos"/>
              </a:rPr>
              <a:t>DeepWiki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300984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A2A3"/>
                </a:solidFill>
                <a:latin typeface="Aptos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502152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03E"/>
                </a:solidFill>
                <a:latin typeface="Aptos"/>
              </a:rPr>
              <a:t>Semantica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739896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A2A3"/>
                </a:solidFill>
                <a:latin typeface="Aptos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941064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03E"/>
                </a:solidFill>
                <a:latin typeface="Aptos"/>
              </a:rPr>
              <a:t>Neo4j / FalkorDB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17880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A2A3"/>
                </a:solidFill>
                <a:latin typeface="Apto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379976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03E"/>
                </a:solidFill>
                <a:latin typeface="Aptos"/>
              </a:rPr>
              <a:t>Persistent 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10058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4"/>
                </a:solidFill>
                <a:latin typeface="Consolas"/>
              </a:rPr>
              <a:t>Example connection:  run_pipeline.py --neo4j-uri bolt://localhost:7687 --neo4j-user neo4j --neo4j-password password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Ask questions that Markdown search cannot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584"/>
                </a:solidFill>
                <a:latin typeface="Aptos"/>
              </a:rPr>
              <a:t>Graph queries connect technical dependencies to operational impact, ownership and business capabilities.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337560" cy="116128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2880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A2A3"/>
                </a:solidFill>
                <a:latin typeface="Aptos"/>
              </a:rPr>
              <a:t>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9192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303E"/>
                </a:solidFill>
                <a:latin typeface="Aptos"/>
              </a:rPr>
              <a:t>What does Payment Service depend 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48840"/>
            <a:ext cx="3337560" cy="116128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7" y="2331720"/>
            <a:ext cx="2880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A2A3"/>
                </a:solidFill>
                <a:latin typeface="Aptos"/>
              </a:rPr>
              <a:t>Event 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679192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303E"/>
                </a:solidFill>
                <a:latin typeface="Aptos"/>
              </a:rPr>
              <a:t>Who consumes customer.updated?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3337560" cy="116128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331720"/>
            <a:ext cx="2880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A2A3"/>
                </a:solidFill>
                <a:latin typeface="Aptos"/>
              </a:rPr>
              <a:t>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679192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303E"/>
                </a:solidFill>
                <a:latin typeface="Aptos"/>
              </a:rPr>
              <a:t>Which applications use Java 11?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21608"/>
            <a:ext cx="3337560" cy="116128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04488"/>
            <a:ext cx="2880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A2A3"/>
                </a:solidFill>
                <a:latin typeface="Aptos"/>
              </a:rPr>
              <a:t>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5196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303E"/>
                </a:solidFill>
                <a:latin typeface="Aptos"/>
              </a:rPr>
              <a:t>What does Payments Engineering own?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721608"/>
            <a:ext cx="3337560" cy="116128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7" y="3904488"/>
            <a:ext cx="2880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A2A3"/>
                </a:solidFill>
                <a:latin typeface="Aptos"/>
              </a:rPr>
              <a:t>Blast radius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7" y="425196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303E"/>
                </a:solidFill>
                <a:latin typeface="Aptos"/>
              </a:rPr>
              <a:t>What breaks if Customer Service changes?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721608"/>
            <a:ext cx="3337560" cy="116128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904488"/>
            <a:ext cx="2880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A2A3"/>
                </a:solidFill>
                <a:latin typeface="Aptos"/>
              </a:rPr>
              <a:t>Business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425196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303E"/>
                </a:solidFill>
                <a:latin typeface="Aptos"/>
              </a:rPr>
              <a:t>Which capabilities are affected?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5955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F37"/>
                </a:solidFill>
                <a:latin typeface="Consolas"/>
              </a:rPr>
              <a:t>Flagship query:  python query_cli.py blast "Customer Service"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OPERATING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Controlled extraction first; LLM enrichment where appropriate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584"/>
                </a:solidFill>
                <a:latin typeface="Aptos"/>
              </a:rPr>
              <a:t>Architecture facts require evidence, predictable extraction and governance—not unsupported inference.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4526280" cy="2560320"/>
          </a:xfrm>
          <a:prstGeom prst="roundRect">
            <a:avLst/>
          </a:prstGeom>
          <a:solidFill>
            <a:srgbClr val="FCEDED"/>
          </a:solidFill>
          <a:ln>
            <a:solidFill>
              <a:srgbClr val="FC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32D2D"/>
                </a:solidFill>
                <a:latin typeface="Aptos"/>
              </a:rPr>
              <a:t>AVOID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3794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23232"/>
                </a:solidFill>
                <a:latin typeface="Aptos"/>
              </a:rPr>
              <a:t>“The LLM thinks Payment Service probably depends on Customer Service.”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0906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A2A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212080" cy="2560320"/>
          </a:xfrm>
          <a:prstGeom prst="roundRect">
            <a:avLst/>
          </a:prstGeom>
          <a:solidFill>
            <a:srgbClr val="E7F8F3"/>
          </a:solidFill>
          <a:ln>
            <a:solidFill>
              <a:srgbClr val="E7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526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915F"/>
                </a:solidFill>
                <a:latin typeface="Aptos"/>
              </a:rPr>
              <a:t>PREFER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44368"/>
            <a:ext cx="4389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6446"/>
                </a:solidFill>
                <a:latin typeface="Aptos"/>
              </a:rPr>
              <a:t>DeepWiki explicitly states the dependency → extract it → add it to the graph → preserve the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C1F37"/>
                </a:solidFill>
                <a:latin typeface="Aptos"/>
              </a:rPr>
              <a:t>Optional LLM extraction is available for less-structured documents, but it complements—not replaces—the controlled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A2A3"/>
                </a:solidFill>
                <a:latin typeface="Aptos"/>
              </a:rPr>
              <a:t>SEMANTIC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1F37"/>
                </a:solidFill>
                <a:latin typeface="Aptos"/>
              </a:rPr>
              <a:t>Initial ABC ontology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584"/>
                </a:solidFill>
                <a:latin typeface="Aptos"/>
              </a:rPr>
              <a:t>A common vocabulary makes the application landscape consistent, governable and queryable.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51560" cy="36576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352044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3520440" cy="118872"/>
          </a:xfrm>
          <a:prstGeom prst="rect">
            <a:avLst/>
          </a:prstGeom>
          <a:solidFill>
            <a:srgbClr val="2575B1"/>
          </a:solidFill>
          <a:ln>
            <a:solidFill>
              <a:srgbClr val="257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1F37"/>
                </a:solidFill>
                <a:latin typeface="Aptos"/>
              </a:rPr>
              <a:t>Core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44368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36976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00984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93591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57599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50208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14216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KafkaTopic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06824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70832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63440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727448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DataEntity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2057400"/>
            <a:ext cx="352044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57400"/>
            <a:ext cx="3520440" cy="118872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23774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1F37"/>
                </a:solidFill>
                <a:latin typeface="Aptos"/>
              </a:rPr>
              <a:t>Context entities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90872" y="2880360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4024" y="2944368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Technology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90872" y="3236976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4024" y="3300984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Framework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90872" y="3593591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4024" y="3657599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BusinessCapability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90872" y="3950208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64024" y="4014216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BusinessDomain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90872" y="4306824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64024" y="4370832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Team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90872" y="4663440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4024" y="4727448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Owner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90872" y="5020056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64024" y="5084064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Environment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0184" y="2057400"/>
            <a:ext cx="352044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30184" y="2057400"/>
            <a:ext cx="3520440" cy="118872"/>
          </a:xfrm>
          <a:prstGeom prst="rect">
            <a:avLst/>
          </a:prstGeom>
          <a:solidFill>
            <a:srgbClr val="EC9930"/>
          </a:solidFill>
          <a:ln>
            <a:solidFill>
              <a:srgbClr val="EC9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58784" y="23774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1F37"/>
                </a:solidFill>
                <a:latin typeface="Aptos"/>
              </a:rPr>
              <a:t>Relationships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58784" y="2880360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31936" y="2944368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depends_on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58784" y="3236976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31936" y="3300984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consumes_api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58784" y="3593591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31936" y="3657599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publishes_event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58784" y="3950208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31936" y="4014216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uses_database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58784" y="4306824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31936" y="4370832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supports_capability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58784" y="4663440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31936" y="4727448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owned_by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58784" y="5020056"/>
            <a:ext cx="29718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31936" y="5084064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5303E"/>
                </a:solidFill>
                <a:latin typeface="Aptos"/>
              </a:rPr>
              <a:t>deployed_in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584"/>
                </a:solidFill>
                <a:latin typeface="Aptos"/>
              </a:rPr>
              <a:t>ABC + DeepWiki + Semantica POC v2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975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2A3"/>
          </a:solidFill>
          <a:ln>
            <a:solidFill>
              <a:srgbClr val="00A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91440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3DFE0"/>
                </a:solidFill>
                <a:latin typeface="Aptos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Turn the POC into an operational
architecture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3154680"/>
            <a:ext cx="97200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Install and run the target Semantica release in a controlled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657600"/>
            <a:ext cx="97200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Connect to real ABC and DeepWiki repositories.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160520"/>
            <a:ext cx="97200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Validate ontology and governance rules against production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663440"/>
            <a:ext cx="97200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Deploy persistent storage for enterprise-scale usage.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5166360"/>
            <a:ext cx="97200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Add CI checks for provenance, governance and drift.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A2A3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669280"/>
            <a:ext cx="97200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03E"/>
                </a:solidFill>
                <a:latin typeface="Aptos"/>
              </a:rPr>
              <a:t>Ground AI-agent responses in graph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80760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E7F2"/>
                </a:solidFill>
                <a:latin typeface="Aptos"/>
              </a:rPr>
              <a:t>Outcome: trusted, evidence-backed decisions about dependencies, risk and business impact.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92240"/>
            <a:ext cx="45720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5CB"/>
                </a:solidFill>
                <a:latin typeface="Aptos"/>
              </a:rPr>
              <a:t>ABC + DeepWiki + Semantica POC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