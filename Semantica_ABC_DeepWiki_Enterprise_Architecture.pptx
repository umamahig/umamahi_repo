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899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Semantica for ABC Enterprise Application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283464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CDDAEB"/>
                </a:solidFill>
              </a:defRPr>
            </a:pPr>
            <a:r>
              <a:t>DeepWiki Markdown → Application Landscape Graph → Dependency, Impact, Governance &amp; Enterprise Queries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709160"/>
            <a:ext cx="2926080" cy="566928"/>
          </a:xfrm>
          <a:prstGeom prst="roundRect">
            <a:avLst/>
          </a:prstGeom>
          <a:solidFill>
            <a:srgbClr val="208487"/>
          </a:solidFill>
          <a:ln w="12700">
            <a:solidFill>
              <a:srgbClr val="208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Architecture &amp; GenAI POC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86200" y="4709160"/>
            <a:ext cx="2926080" cy="566928"/>
          </a:xfrm>
          <a:prstGeom prst="roundRect">
            <a:avLst/>
          </a:prstGeom>
          <a:solidFill>
            <a:srgbClr val="3060A0"/>
          </a:solidFill>
          <a:ln w="12700">
            <a:solidFill>
              <a:srgbClr val="3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ABC Application Estate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95160" y="4709160"/>
            <a:ext cx="2926080" cy="566928"/>
          </a:xfrm>
          <a:prstGeom prst="roundRect">
            <a:avLst/>
          </a:prstGeom>
          <a:solidFill>
            <a:srgbClr val="654E96"/>
          </a:solidFill>
          <a:ln w="12700">
            <a:solidFill>
              <a:srgbClr val="654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Enterprise AI Context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E0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53796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6C78"/>
                </a:solidFill>
              </a:defRPr>
            </a:pPr>
            <a:r>
              <a:t>Based on current Semantica documentation reviewed Sep 2026: docs.getsemantica.ai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7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75488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62D38"/>
                </a:solidFill>
              </a:defRPr>
            </a:pPr>
            <a:r>
              <a:t>Semantica is a semantic/context layer underneath an existing LLM, vector store and agent framework — it is not a replacement for DeepWiki, LangChain or the LLM.</a:t>
            </a:r>
          </a:p>
          <a:p>
            <a:pPr>
              <a:spcAft>
                <a:spcPts val="800"/>
              </a:spcAft>
              <a:defRPr sz="1900" b="0">
                <a:solidFill>
                  <a:srgbClr val="262D38"/>
                </a:solidFill>
              </a:defRPr>
            </a:pPr>
            <a:r>
              <a:t>The key ABC use is to convert selected architecture facts from DeepWiki-generated Markdown into a cross-application Application Landscape Graph.</a:t>
            </a:r>
          </a:p>
          <a:p>
            <a:pPr>
              <a:spcAft>
                <a:spcPts val="800"/>
              </a:spcAft>
              <a:defRPr sz="1900" b="0">
                <a:solidFill>
                  <a:srgbClr val="262D38"/>
                </a:solidFill>
              </a:defRPr>
            </a:pPr>
            <a:r>
              <a:t>DeepWiki remains the detailed evidence/document layer; Semantica becomes the structured relationship layer.</a:t>
            </a:r>
          </a:p>
          <a:p>
            <a:pPr>
              <a:spcAft>
                <a:spcPts val="800"/>
              </a:spcAft>
              <a:defRPr sz="1900" b="0">
                <a:solidFill>
                  <a:srgbClr val="262D38"/>
                </a:solidFill>
              </a:defRPr>
            </a:pPr>
            <a:r>
              <a:t>The resulting graph supports multi-hop dependency analysis, change impact analysis, architecture governance, provenance, temporal/change intelligence and enterprise-wide queries.</a:t>
            </a:r>
          </a:p>
          <a:p>
            <a:pPr>
              <a:spcAft>
                <a:spcPts val="800"/>
              </a:spcAft>
              <a:defRPr sz="1900" b="0">
                <a:solidFill>
                  <a:srgbClr val="262D38"/>
                </a:solidFill>
              </a:defRPr>
            </a:pPr>
            <a:r>
              <a:t>The most valuable first POC: “If Application/API/Kafka Topic X changes, which applications and business capabilities could be affected — and what source documents prove each relationship?”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E0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6C78"/>
                </a:solidFill>
              </a:defRPr>
            </a:pPr>
            <a:r>
              <a:t>Semantica positioning and capabilities: docs.getsemantica.ai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7"/>
                </a:solidFill>
              </a:defRPr>
            </a:pPr>
            <a:r>
              <a:t>The Problem: DeepWiki Gives Us Documents — But ABC Needs Relationships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200400" cy="34747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262D38"/>
                </a:solidFill>
              </a:defRPr>
            </a:pPr>
            <a:r>
              <a:t>DeepWiki Markdown</a:t>
            </a:r>
            <a:br/>
            <a:br/>
            <a:r>
              <a:t>Application A</a:t>
            </a:r>
            <a:br/>
            <a:r>
              <a:t>architecture.md</a:t>
            </a:r>
            <a:br/>
            <a:r>
              <a:t>api.md</a:t>
            </a:r>
            <a:br/>
            <a:r>
              <a:t>dependencies.md</a:t>
            </a:r>
            <a:br/>
            <a:br/>
            <a:r>
              <a:t>Application B</a:t>
            </a:r>
            <a:br/>
            <a:r>
              <a:t>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508760"/>
            <a:ext cx="2926080" cy="1097280"/>
          </a:xfrm>
          <a:prstGeom prst="roundRect">
            <a:avLst/>
          </a:prstGeom>
          <a:solidFill>
            <a:srgbClr val="E7F1FC"/>
          </a:solidFill>
          <a:ln w="12700">
            <a:solidFill>
              <a:srgbClr val="3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62D38"/>
                </a:solidFill>
              </a:defRPr>
            </a:pPr>
            <a:r>
              <a:t>Document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971800"/>
            <a:ext cx="2926080" cy="1097280"/>
          </a:xfrm>
          <a:prstGeom prst="roundRect">
            <a:avLst/>
          </a:prstGeom>
          <a:solidFill>
            <a:srgbClr val="E7F7F0"/>
          </a:solidFill>
          <a:ln w="12700">
            <a:solidFill>
              <a:srgbClr val="2E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62D38"/>
                </a:solidFill>
              </a:defRPr>
            </a:pPr>
            <a:r>
              <a:t>Relationship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25880"/>
            <a:ext cx="3383280" cy="1645920"/>
          </a:xfrm>
          <a:prstGeom prst="roundRect">
            <a:avLst/>
          </a:prstGeom>
          <a:solidFill>
            <a:srgbClr val="E7F1FC"/>
          </a:solidFill>
          <a:ln w="12700">
            <a:solidFill>
              <a:srgbClr val="3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262D38"/>
                </a:solidFill>
              </a:defRPr>
            </a:pPr>
            <a:r>
              <a:t>“What does APP001 do?”</a:t>
            </a:r>
            <a:br/>
            <a:br/>
            <a:r>
              <a:t>RAG / DeepWiki is strong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246120"/>
            <a:ext cx="3383280" cy="1828800"/>
          </a:xfrm>
          <a:prstGeom prst="roundRect">
            <a:avLst/>
          </a:prstGeom>
          <a:solidFill>
            <a:srgbClr val="E7F7F0"/>
          </a:solidFill>
          <a:ln w="12700">
            <a:solidFill>
              <a:srgbClr val="2E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262D38"/>
                </a:solidFill>
              </a:defRPr>
            </a:pPr>
            <a:r>
              <a:t>“What breaks if Customer Service API changes?”</a:t>
            </a:r>
            <a:br/>
            <a:br/>
            <a:r>
              <a:t>Requires cross-document relationships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840480" y="2057400"/>
            <a:ext cx="594360" cy="137160"/>
          </a:xfrm>
          <a:prstGeom prst="line">
            <a:avLst/>
          </a:prstGeom>
          <a:ln w="27940">
            <a:solidFill>
              <a:srgbClr val="306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452360" y="2057400"/>
            <a:ext cx="548640" cy="0"/>
          </a:xfrm>
          <a:prstGeom prst="line">
            <a:avLst/>
          </a:prstGeom>
          <a:ln w="27940">
            <a:solidFill>
              <a:srgbClr val="306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840480" y="3520440"/>
            <a:ext cx="594360" cy="228599"/>
          </a:xfrm>
          <a:prstGeom prst="line">
            <a:avLst/>
          </a:prstGeom>
          <a:ln w="27940">
            <a:solidFill>
              <a:srgbClr val="2E7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452360" y="3520440"/>
            <a:ext cx="548640" cy="411480"/>
          </a:xfrm>
          <a:prstGeom prst="line">
            <a:avLst/>
          </a:prstGeom>
          <a:ln w="27940">
            <a:solidFill>
              <a:srgbClr val="2E7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E0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653796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6C78"/>
                </a:solidFill>
              </a:defRPr>
            </a:pPr>
            <a:r>
              <a:t>Conceptual distinction based on Semantica knowledge-graph vs vector-store documentation: docs.getsemantica.ai/concepts/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7"/>
                </a:solidFill>
              </a:defRPr>
            </a:pPr>
            <a:r>
              <a:t>Where Semantica Fits in the ABC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3657600" cy="640080"/>
          </a:xfrm>
          <a:prstGeom prst="roundRect">
            <a:avLst/>
          </a:prstGeom>
          <a:solidFill>
            <a:srgbClr val="141F37"/>
          </a:solidFill>
          <a:ln w="12700">
            <a:solidFill>
              <a:srgbClr val="141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Source systems / Git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92040" y="1234440"/>
            <a:ext cx="6126480" cy="6400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262D38"/>
                </a:solidFill>
              </a:defRPr>
            </a:pPr>
            <a:r>
              <a:t>Code, configs, ADRs, schemas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0" y="1892808"/>
            <a:ext cx="0" cy="237744"/>
          </a:xfrm>
          <a:prstGeom prst="line">
            <a:avLst/>
          </a:prstGeom>
          <a:ln w="19050">
            <a:solidFill>
              <a:srgbClr val="64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14400" y="2194560"/>
            <a:ext cx="3657600" cy="640080"/>
          </a:xfrm>
          <a:prstGeom prst="roundRect">
            <a:avLst/>
          </a:prstGeom>
          <a:solidFill>
            <a:srgbClr val="3060A0"/>
          </a:solidFill>
          <a:ln w="12700">
            <a:solidFill>
              <a:srgbClr val="3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DeepWiki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2194560"/>
            <a:ext cx="6126480" cy="6400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262D38"/>
                </a:solidFill>
              </a:defRPr>
            </a:pPr>
            <a:r>
              <a:t>Generates application Markdown knowledge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2852928"/>
            <a:ext cx="0" cy="237744"/>
          </a:xfrm>
          <a:prstGeom prst="line">
            <a:avLst/>
          </a:prstGeom>
          <a:ln w="19050">
            <a:solidFill>
              <a:srgbClr val="64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4400" y="3154680"/>
            <a:ext cx="3657600" cy="640080"/>
          </a:xfrm>
          <a:prstGeom prst="roundRect">
            <a:avLst/>
          </a:prstGeom>
          <a:solidFill>
            <a:srgbClr val="208487"/>
          </a:solidFill>
          <a:ln w="12700">
            <a:solidFill>
              <a:srgbClr val="208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DeepWiki RAG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3154680"/>
            <a:ext cx="6126480" cy="6400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262D38"/>
                </a:solidFill>
              </a:defRPr>
            </a:pPr>
            <a:r>
              <a:t>Document search, Q&amp;A, evidence retrieval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3813048"/>
            <a:ext cx="0" cy="237743"/>
          </a:xfrm>
          <a:prstGeom prst="line">
            <a:avLst/>
          </a:prstGeom>
          <a:ln w="19050">
            <a:solidFill>
              <a:srgbClr val="64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4400" y="4114800"/>
            <a:ext cx="3657600" cy="640080"/>
          </a:xfrm>
          <a:prstGeom prst="roundRect">
            <a:avLst/>
          </a:prstGeom>
          <a:solidFill>
            <a:srgbClr val="654E96"/>
          </a:solidFill>
          <a:ln w="12700">
            <a:solidFill>
              <a:srgbClr val="654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Semantica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4114800"/>
            <a:ext cx="6126480" cy="6400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262D38"/>
                </a:solidFill>
              </a:defRPr>
            </a:pPr>
            <a:r>
              <a:t>Semantic graph, ontology, provenance, reasoning, context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43200" y="4773168"/>
            <a:ext cx="0" cy="237744"/>
          </a:xfrm>
          <a:prstGeom prst="line">
            <a:avLst/>
          </a:prstGeom>
          <a:ln w="19050">
            <a:solidFill>
              <a:srgbClr val="64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" y="5074920"/>
            <a:ext cx="3657600" cy="640080"/>
          </a:xfrm>
          <a:prstGeom prst="roundRect">
            <a:avLst/>
          </a:prstGeom>
          <a:solidFill>
            <a:srgbClr val="DD822D"/>
          </a:solidFill>
          <a:ln w="12700">
            <a:solidFill>
              <a:srgbClr val="DD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Agent / LLM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5074920"/>
            <a:ext cx="6126480" cy="6400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262D38"/>
                </a:solidFill>
              </a:defRPr>
            </a:pPr>
            <a:r>
              <a:t>Natural-language interaction, synthesis, actions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5440680"/>
            <a:ext cx="3017520" cy="640080"/>
          </a:xfrm>
          <a:prstGeom prst="roundRect">
            <a:avLst/>
          </a:prstGeom>
          <a:solidFill>
            <a:srgbClr val="FAEFE5"/>
          </a:solidFill>
          <a:ln w="12700">
            <a:solidFill>
              <a:srgbClr val="DD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62D38"/>
                </a:solidFill>
              </a:defRPr>
            </a:pPr>
            <a:r>
              <a:t>Semantica is NOT another chatbot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E0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653796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6C78"/>
                </a:solidFill>
              </a:defRPr>
            </a:pPr>
            <a:r>
              <a:t>Semantica describes itself as the semantic/context layer underneath LLMs, vector stores and agent frameworks.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7"/>
                </a:solidFill>
              </a:defRPr>
            </a:pPr>
            <a:r>
              <a:t>Semantica’s Current Modular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417320"/>
            <a:ext cx="2212848" cy="42976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3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62D38"/>
                </a:solidFill>
              </a:defRPr>
            </a:pPr>
            <a:r>
              <a:t>1. Input / Ingestion</a:t>
            </a:r>
            <a:br/>
            <a:br/>
            <a:r>
              <a:t>ingest • parse • split • normalize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417320"/>
            <a:ext cx="2212848" cy="42976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208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62D38"/>
                </a:solidFill>
              </a:defRPr>
            </a:pPr>
            <a:r>
              <a:t>2. Core Processing</a:t>
            </a:r>
            <a:br/>
            <a:br/>
            <a:r>
              <a:t>semantic_extract • kg • ontology • reasoning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417320"/>
            <a:ext cx="2212848" cy="42976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654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62D38"/>
                </a:solidFill>
              </a:defRPr>
            </a:pPr>
            <a:r>
              <a:t>3. Storage</a:t>
            </a:r>
            <a:br/>
            <a:br/>
            <a:r>
              <a:t>embeddings • vector_store • graph_store • triplet_store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417320"/>
            <a:ext cx="2212848" cy="42976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2E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62D38"/>
                </a:solidFill>
              </a:defRPr>
            </a:pPr>
            <a:r>
              <a:t>4. Quality / Context</a:t>
            </a:r>
            <a:br/>
            <a:br/>
            <a:r>
              <a:t>deduplication • conflicts • provenance • change_management • 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38359" y="1417320"/>
            <a:ext cx="2212848" cy="42976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D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62D38"/>
                </a:solidFill>
              </a:defRPr>
            </a:pPr>
            <a:r>
              <a:t>5. Output / Orchestration</a:t>
            </a:r>
            <a:br/>
            <a:br/>
            <a:r>
              <a:t>export • visualization • explorer • pipeline • MCP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E0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53796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6C78"/>
                </a:solidFill>
              </a:defRPr>
            </a:pPr>
            <a:r>
              <a:t>Semantica docs currently describe a four-layer modular architecture and six logical module layers; this slide groups the documented modules functionally.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7"/>
                </a:solidFill>
              </a:defRPr>
            </a:pPr>
            <a:r>
              <a:t>How It Works: End-to-End Semantica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874519"/>
            <a:ext cx="1298448" cy="1965960"/>
          </a:xfrm>
          <a:prstGeom prst="roundRect">
            <a:avLst/>
          </a:prstGeom>
          <a:solidFill>
            <a:srgbClr val="3060A0"/>
          </a:solidFill>
          <a:ln w="12700">
            <a:solidFill>
              <a:srgbClr val="3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  <a:br/>
            <a:r>
              <a:t>DeepWiki</a:t>
            </a:r>
            <a:br/>
            <a:r>
              <a:t>Markdown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73352" y="2852928"/>
            <a:ext cx="228600" cy="0"/>
          </a:xfrm>
          <a:prstGeom prst="line">
            <a:avLst/>
          </a:prstGeom>
          <a:ln w="19050">
            <a:solidFill>
              <a:srgbClr val="64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828800" y="1874519"/>
            <a:ext cx="1298448" cy="1965960"/>
          </a:xfrm>
          <a:prstGeom prst="roundRect">
            <a:avLst/>
          </a:prstGeom>
          <a:solidFill>
            <a:srgbClr val="208487"/>
          </a:solidFill>
          <a:ln w="12700">
            <a:solidFill>
              <a:srgbClr val="208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  <a:br/>
            <a:r>
              <a:t>Ingest / Parse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36391" y="2852928"/>
            <a:ext cx="228600" cy="0"/>
          </a:xfrm>
          <a:prstGeom prst="line">
            <a:avLst/>
          </a:prstGeom>
          <a:ln w="19050">
            <a:solidFill>
              <a:srgbClr val="64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91840" y="1874519"/>
            <a:ext cx="1298448" cy="1965960"/>
          </a:xfrm>
          <a:prstGeom prst="roundRect">
            <a:avLst/>
          </a:prstGeom>
          <a:solidFill>
            <a:srgbClr val="654E96"/>
          </a:solidFill>
          <a:ln w="12700">
            <a:solidFill>
              <a:srgbClr val="654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  <a:br/>
            <a:r>
              <a:t>Normalize / Extract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99432" y="2852928"/>
            <a:ext cx="228600" cy="0"/>
          </a:xfrm>
          <a:prstGeom prst="line">
            <a:avLst/>
          </a:prstGeom>
          <a:ln w="19050">
            <a:solidFill>
              <a:srgbClr val="64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754880" y="1874519"/>
            <a:ext cx="1298448" cy="1965960"/>
          </a:xfrm>
          <a:prstGeom prst="roundRect">
            <a:avLst/>
          </a:prstGeom>
          <a:solidFill>
            <a:srgbClr val="2E7D55"/>
          </a:solidFill>
          <a:ln w="12700">
            <a:solidFill>
              <a:srgbClr val="2E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  <a:br/>
            <a:r>
              <a:t>Build</a:t>
            </a:r>
            <a:br/>
            <a:r>
              <a:t>Knowledge Graph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62472" y="2852928"/>
            <a:ext cx="228600" cy="0"/>
          </a:xfrm>
          <a:prstGeom prst="line">
            <a:avLst/>
          </a:prstGeom>
          <a:ln w="19050">
            <a:solidFill>
              <a:srgbClr val="64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17920" y="1874519"/>
            <a:ext cx="1298448" cy="1965960"/>
          </a:xfrm>
          <a:prstGeom prst="roundRect">
            <a:avLst/>
          </a:prstGeom>
          <a:solidFill>
            <a:srgbClr val="DD822D"/>
          </a:solidFill>
          <a:ln w="12700">
            <a:solidFill>
              <a:srgbClr val="DD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5</a:t>
            </a:r>
            <a:br/>
            <a:r>
              <a:t>Ontology / QA /</a:t>
            </a:r>
            <a:br/>
            <a:r>
              <a:t>Provenance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525512" y="2852928"/>
            <a:ext cx="228600" cy="0"/>
          </a:xfrm>
          <a:prstGeom prst="line">
            <a:avLst/>
          </a:prstGeom>
          <a:ln w="19050">
            <a:solidFill>
              <a:srgbClr val="64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680960" y="1874519"/>
            <a:ext cx="1298448" cy="1965960"/>
          </a:xfrm>
          <a:prstGeom prst="roundRect">
            <a:avLst/>
          </a:prstGeom>
          <a:solidFill>
            <a:srgbClr val="3060A0"/>
          </a:solidFill>
          <a:ln w="12700">
            <a:solidFill>
              <a:srgbClr val="3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6</a:t>
            </a:r>
            <a:br/>
            <a:r>
              <a:t>Store / Vector /</a:t>
            </a:r>
            <a:br/>
            <a:r>
              <a:t>Graph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988552" y="2852928"/>
            <a:ext cx="228600" cy="0"/>
          </a:xfrm>
          <a:prstGeom prst="line">
            <a:avLst/>
          </a:prstGeom>
          <a:ln w="19050">
            <a:solidFill>
              <a:srgbClr val="64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0" y="1874519"/>
            <a:ext cx="1298448" cy="1965960"/>
          </a:xfrm>
          <a:prstGeom prst="roundRect">
            <a:avLst/>
          </a:prstGeom>
          <a:solidFill>
            <a:srgbClr val="654E96"/>
          </a:solidFill>
          <a:ln w="12700">
            <a:solidFill>
              <a:srgbClr val="654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7</a:t>
            </a:r>
            <a:br/>
            <a:r>
              <a:t>GraphRAG /</a:t>
            </a:r>
            <a:br/>
            <a:r>
              <a:t>Reasoning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451592" y="2852928"/>
            <a:ext cx="228600" cy="0"/>
          </a:xfrm>
          <a:prstGeom prst="line">
            <a:avLst/>
          </a:prstGeom>
          <a:ln w="19050">
            <a:solidFill>
              <a:srgbClr val="64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607040" y="1874519"/>
            <a:ext cx="1298448" cy="1965960"/>
          </a:xfrm>
          <a:prstGeom prst="roundRect">
            <a:avLst/>
          </a:prstGeom>
          <a:solidFill>
            <a:srgbClr val="208487"/>
          </a:solidFill>
          <a:ln w="12700">
            <a:solidFill>
              <a:srgbClr val="208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8</a:t>
            </a:r>
            <a:br/>
            <a:r>
              <a:t>Agent / LLM</a:t>
            </a:r>
            <a:br/>
            <a:r>
              <a:t>Answer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4572000"/>
            <a:ext cx="8503920" cy="822960"/>
          </a:xfrm>
          <a:prstGeom prst="roundRect">
            <a:avLst/>
          </a:prstGeom>
          <a:solidFill>
            <a:srgbClr val="EBF4EE"/>
          </a:solidFill>
          <a:ln w="12700">
            <a:solidFill>
              <a:srgbClr val="2E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62D38"/>
                </a:solidFill>
              </a:defRPr>
            </a:pPr>
            <a:r>
              <a:t>Every important graph fact can retain source lineage — the graph is not detached from the DeepWiki evidence.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E0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653796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6C78"/>
                </a:solidFill>
              </a:defRPr>
            </a:pPr>
            <a:r>
              <a:t>Official pipeline: Ingest → Parse → Normalize → Extract → Build KG → QA → Store → Deliver. docs.getsemantica.ai/architecture/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7"/>
                </a:solidFill>
              </a:defRPr>
            </a:pPr>
            <a:r>
              <a:t>Core Capability: Application Landscape Knowledge Graph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2194560" cy="822960"/>
          </a:xfrm>
          <a:prstGeom prst="roundRect">
            <a:avLst/>
          </a:prstGeom>
          <a:solidFill>
            <a:srgbClr val="3060A0"/>
          </a:solidFill>
          <a:ln w="12700">
            <a:solidFill>
              <a:srgbClr val="3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Payment 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051560"/>
            <a:ext cx="2194560" cy="822960"/>
          </a:xfrm>
          <a:prstGeom prst="roundRect">
            <a:avLst/>
          </a:prstGeom>
          <a:solidFill>
            <a:srgbClr val="208487"/>
          </a:solidFill>
          <a:ln w="12700">
            <a:solidFill>
              <a:srgbClr val="208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Customer 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2331720"/>
            <a:ext cx="2194560" cy="822960"/>
          </a:xfrm>
          <a:prstGeom prst="roundRect">
            <a:avLst/>
          </a:prstGeom>
          <a:solidFill>
            <a:srgbClr val="654E96"/>
          </a:solidFill>
          <a:ln w="12700">
            <a:solidFill>
              <a:srgbClr val="654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Fraud 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051560"/>
            <a:ext cx="2194560" cy="822960"/>
          </a:xfrm>
          <a:prstGeom prst="roundRect">
            <a:avLst/>
          </a:prstGeom>
          <a:solidFill>
            <a:srgbClr val="DD822D"/>
          </a:solidFill>
          <a:ln w="12700">
            <a:solidFill>
              <a:srgbClr val="DD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customer.updated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2331720"/>
            <a:ext cx="2194560" cy="822960"/>
          </a:xfrm>
          <a:prstGeom prst="roundRect">
            <a:avLst/>
          </a:prstGeom>
          <a:solidFill>
            <a:srgbClr val="2E7D55"/>
          </a:solidFill>
          <a:ln w="12700">
            <a:solidFill>
              <a:srgbClr val="2E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PaymentDB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1645920"/>
            <a:ext cx="1920240" cy="914400"/>
          </a:xfrm>
          <a:prstGeom prst="roundRect">
            <a:avLst/>
          </a:prstGeom>
          <a:solidFill>
            <a:srgbClr val="141F37"/>
          </a:solidFill>
          <a:ln w="12700">
            <a:solidFill>
              <a:srgbClr val="141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Payments</a:t>
            </a:r>
            <a:br/>
            <a:r>
              <a:t>Capability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788920" y="1463040"/>
            <a:ext cx="822960" cy="320040"/>
          </a:xfrm>
          <a:prstGeom prst="line">
            <a:avLst/>
          </a:prstGeom>
          <a:ln w="27940">
            <a:solidFill>
              <a:srgbClr val="306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88920" y="1920240"/>
            <a:ext cx="822960" cy="731520"/>
          </a:xfrm>
          <a:prstGeom prst="line">
            <a:avLst/>
          </a:prstGeom>
          <a:ln w="27940">
            <a:solidFill>
              <a:srgbClr val="306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897880" y="1463040"/>
            <a:ext cx="914400" cy="0"/>
          </a:xfrm>
          <a:prstGeom prst="line">
            <a:avLst/>
          </a:prstGeom>
          <a:ln w="27940">
            <a:solidFill>
              <a:srgbClr val="306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97880" y="2743200"/>
            <a:ext cx="914400" cy="0"/>
          </a:xfrm>
          <a:prstGeom prst="line">
            <a:avLst/>
          </a:prstGeom>
          <a:ln w="27940">
            <a:solidFill>
              <a:srgbClr val="306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098280" y="2194560"/>
            <a:ext cx="457200" cy="548640"/>
          </a:xfrm>
          <a:prstGeom prst="line">
            <a:avLst/>
          </a:prstGeom>
          <a:ln w="27940">
            <a:solidFill>
              <a:srgbClr val="306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77240" y="4069080"/>
            <a:ext cx="10698480" cy="1143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262D38"/>
                </a:solidFill>
              </a:defRPr>
            </a:pPr>
            <a:r>
              <a:t>Nodes = Applications, APIs, Kafka Topics, Databases, Technologies, Teams, Environments, Business Capabilities</a:t>
            </a:r>
            <a:br/>
            <a:r>
              <a:t>Edges = depends_on, exposes_api, consumes_event, publishes_event, uses_database, supports_capability, owned_by, deployed_in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E0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653796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6C78"/>
                </a:solidFill>
              </a:defRPr>
            </a:pPr>
            <a:r>
              <a:t>Semantica knowledge graphs use typed nodes, relationships and properties; graph construction is a core module.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7"/>
                </a:solidFill>
              </a:defRPr>
            </a:pPr>
            <a:r>
              <a:t>Exactly How to Use Semantica on DeepWiki-Generated Files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25880"/>
            <a:ext cx="2057400" cy="3383280"/>
          </a:xfrm>
          <a:prstGeom prst="roundRect">
            <a:avLst/>
          </a:prstGeom>
          <a:solidFill>
            <a:srgbClr val="E7F1FC"/>
          </a:solidFill>
          <a:ln w="12700">
            <a:solidFill>
              <a:srgbClr val="3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62D38"/>
                </a:solidFill>
              </a:defRPr>
            </a:pPr>
            <a:r>
              <a:t>DeepWiki</a:t>
            </a:r>
            <a:br/>
            <a:br/>
            <a:r>
              <a:t>architecture.md</a:t>
            </a:r>
            <a:br/>
            <a:r>
              <a:t>api.md</a:t>
            </a:r>
            <a:br/>
            <a:r>
              <a:t>dependencies.md</a:t>
            </a:r>
            <a:br/>
            <a:r>
              <a:t>deployment.md</a:t>
            </a:r>
            <a:br/>
            <a:br/>
            <a:r>
              <a:t>All ABC apps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60320" y="2971800"/>
            <a:ext cx="502920" cy="0"/>
          </a:xfrm>
          <a:prstGeom prst="line">
            <a:avLst/>
          </a:prstGeom>
          <a:ln w="27940">
            <a:solidFill>
              <a:srgbClr val="306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154680" y="1325880"/>
            <a:ext cx="2331720" cy="3383280"/>
          </a:xfrm>
          <a:prstGeom prst="roundRect">
            <a:avLst/>
          </a:prstGeom>
          <a:solidFill>
            <a:srgbClr val="EEF7F1"/>
          </a:solidFill>
          <a:ln w="12700">
            <a:solidFill>
              <a:srgbClr val="2E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62D38"/>
                </a:solidFill>
              </a:defRPr>
            </a:pPr>
            <a:r>
              <a:t>ABC Extraction</a:t>
            </a:r>
            <a:br/>
            <a:br/>
            <a:r>
              <a:t>Application</a:t>
            </a:r>
            <a:br/>
            <a:r>
              <a:t>API</a:t>
            </a:r>
            <a:br/>
            <a:r>
              <a:t>Dependency</a:t>
            </a:r>
            <a:br/>
            <a:r>
              <a:t>Kafka</a:t>
            </a:r>
            <a:br/>
            <a:r>
              <a:t>Database</a:t>
            </a:r>
            <a:br/>
            <a:r>
              <a:t>Technology</a:t>
            </a:r>
            <a:br/>
            <a:r>
              <a:t>Capability</a:t>
            </a:r>
            <a:br/>
            <a:r>
              <a:t>Owner</a:t>
            </a:r>
            <a:br/>
            <a:r>
              <a:t>Environment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77840" y="2971800"/>
            <a:ext cx="502920" cy="0"/>
          </a:xfrm>
          <a:prstGeom prst="line">
            <a:avLst/>
          </a:prstGeom>
          <a:ln w="27940">
            <a:solidFill>
              <a:srgbClr val="2E7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172200" y="1325880"/>
            <a:ext cx="2240280" cy="3383280"/>
          </a:xfrm>
          <a:prstGeom prst="roundRect">
            <a:avLst/>
          </a:prstGeom>
          <a:solidFill>
            <a:srgbClr val="F2EDFA"/>
          </a:solidFill>
          <a:ln w="12700">
            <a:solidFill>
              <a:srgbClr val="654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62D38"/>
                </a:solidFill>
              </a:defRPr>
            </a:pPr>
            <a:r>
              <a:t>Semantica</a:t>
            </a:r>
            <a:br/>
            <a:br/>
            <a:r>
              <a:t>Entity model</a:t>
            </a:r>
            <a:br/>
            <a:r>
              <a:t>Relationships</a:t>
            </a:r>
            <a:br/>
            <a:r>
              <a:t>Ontology</a:t>
            </a:r>
            <a:br/>
            <a:r>
              <a:t>Provenance</a:t>
            </a:r>
            <a:br/>
            <a:r>
              <a:t>Graph</a:t>
            </a:r>
            <a:br/>
            <a:r>
              <a:t>Validation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503920" y="2971800"/>
            <a:ext cx="502920" cy="0"/>
          </a:xfrm>
          <a:prstGeom prst="line">
            <a:avLst/>
          </a:prstGeom>
          <a:ln w="27940">
            <a:solidFill>
              <a:srgbClr val="654E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098280" y="1325880"/>
            <a:ext cx="2606040" cy="3383280"/>
          </a:xfrm>
          <a:prstGeom prst="roundRect">
            <a:avLst/>
          </a:prstGeom>
          <a:solidFill>
            <a:srgbClr val="FAEFE5"/>
          </a:solidFill>
          <a:ln w="12700">
            <a:solidFill>
              <a:srgbClr val="DD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62D38"/>
                </a:solidFill>
              </a:defRPr>
            </a:pPr>
            <a:r>
              <a:t>ABC Landscape</a:t>
            </a:r>
            <a:br/>
            <a:r>
              <a:t>Graph</a:t>
            </a:r>
            <a:br/>
            <a:br/>
            <a:r>
              <a:t>Cross-app queries</a:t>
            </a:r>
            <a:br/>
            <a:r>
              <a:t>Impact analysis</a:t>
            </a:r>
            <a:br/>
            <a:r>
              <a:t>Governance</a:t>
            </a:r>
            <a:br/>
            <a:r>
              <a:t>GraphRAG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5074920"/>
            <a:ext cx="8503920" cy="685800"/>
          </a:xfrm>
          <a:prstGeom prst="roundRect">
            <a:avLst/>
          </a:prstGeom>
          <a:solidFill>
            <a:srgbClr val="141F37"/>
          </a:solidFill>
          <a:ln w="12700">
            <a:solidFill>
              <a:srgbClr val="141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Do not replace the Markdown. Keep it as evidence; make the graph the structured relationship layer.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E0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653796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6C78"/>
                </a:solidFill>
              </a:defRPr>
            </a:pPr>
            <a:r>
              <a:t>This ABC integration pattern is the proposed architecture built using Semantica capabilities documented by Semantica.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7"/>
                </a:solidFill>
              </a:defRPr>
            </a:pPr>
            <a:r>
              <a:t>Extraction Strategy: Accuracy First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3337560" cy="4160520"/>
          </a:xfrm>
          <a:prstGeom prst="roundRect">
            <a:avLst/>
          </a:prstGeom>
          <a:solidFill>
            <a:srgbClr val="EBF4EE"/>
          </a:solidFill>
          <a:ln w="12700">
            <a:solidFill>
              <a:srgbClr val="2E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62D38"/>
                </a:solidFill>
              </a:defRPr>
            </a:pPr>
            <a:r>
              <a:t>Recommended POC</a:t>
            </a:r>
            <a:br/>
            <a:br/>
            <a:r>
              <a:t>Deterministic Markdown extraction</a:t>
            </a:r>
            <a:br/>
            <a:br/>
            <a:r>
              <a:t>Known headings:</a:t>
            </a:r>
            <a:br/>
            <a:r>
              <a:t>• Technology</a:t>
            </a:r>
            <a:br/>
            <a:r>
              <a:t>• Dependencies</a:t>
            </a:r>
            <a:br/>
            <a:r>
              <a:t>• APIs</a:t>
            </a:r>
            <a:br/>
            <a:r>
              <a:t>• Events</a:t>
            </a:r>
            <a:br/>
            <a:r>
              <a:t>• Database</a:t>
            </a:r>
            <a:br/>
            <a:r>
              <a:t>• Capability</a:t>
            </a:r>
            <a:br/>
            <a:r>
              <a:t>• Owner</a:t>
            </a:r>
            <a:br/>
            <a:r>
              <a:t>• Environment</a:t>
            </a:r>
            <a:br/>
            <a:br/>
            <a:r>
              <a:t>Why?</a:t>
            </a:r>
            <a:br/>
            <a:r>
              <a:t>Architecture relationships should not be invented.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325880"/>
            <a:ext cx="3337560" cy="4160520"/>
          </a:xfrm>
          <a:prstGeom prst="roundRect">
            <a:avLst/>
          </a:prstGeom>
          <a:solidFill>
            <a:srgbClr val="F2EDFA"/>
          </a:solidFill>
          <a:ln w="12700">
            <a:solidFill>
              <a:srgbClr val="654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62D38"/>
                </a:solidFill>
              </a:defRPr>
            </a:pPr>
            <a:r>
              <a:t>Semantica extraction</a:t>
            </a:r>
            <a:br/>
            <a:br/>
            <a:r>
              <a:t>Pattern / ML / LLM modes</a:t>
            </a:r>
            <a:br/>
            <a:br/>
            <a:r>
              <a:t>Use when DeepWiki content is free-form.</a:t>
            </a:r>
            <a:br/>
            <a:br/>
            <a:r>
              <a:t>Constrain output to ABC ontology:</a:t>
            </a:r>
            <a:br/>
            <a:r>
              <a:t>Application</a:t>
            </a:r>
            <a:br/>
            <a:r>
              <a:t>API</a:t>
            </a:r>
            <a:br/>
            <a:r>
              <a:t>KafkaTopic</a:t>
            </a:r>
            <a:br/>
            <a:r>
              <a:t>Database</a:t>
            </a:r>
            <a:br/>
            <a:r>
              <a:t>Technology</a:t>
            </a:r>
            <a:br/>
            <a:r>
              <a:t>Capability</a:t>
            </a:r>
            <a:br/>
            <a:r>
              <a:t>...</a:t>
            </a:r>
            <a:br/>
            <a:br/>
            <a:r>
              <a:t>Require source evidence + confidence.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1325880"/>
            <a:ext cx="3337560" cy="4160520"/>
          </a:xfrm>
          <a:prstGeom prst="roundRect">
            <a:avLst/>
          </a:prstGeom>
          <a:solidFill>
            <a:srgbClr val="E7F1FC"/>
          </a:solidFill>
          <a:ln w="12700">
            <a:solidFill>
              <a:srgbClr val="3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62D38"/>
                </a:solidFill>
              </a:defRPr>
            </a:pPr>
            <a:r>
              <a:t>Production control</a:t>
            </a:r>
            <a:br/>
            <a:br/>
            <a:r>
              <a:t>1. Extract</a:t>
            </a:r>
            <a:br/>
            <a:r>
              <a:t>2. Resolve entities</a:t>
            </a:r>
            <a:br/>
            <a:r>
              <a:t>3. Validate relationships</a:t>
            </a:r>
            <a:br/>
            <a:r>
              <a:t>4. Detect conflicts</a:t>
            </a:r>
            <a:br/>
            <a:r>
              <a:t>5. Preserve provenance</a:t>
            </a:r>
            <a:br/>
            <a:r>
              <a:t>6. Human-review high-impact facts</a:t>
            </a:r>
            <a:br/>
            <a:r>
              <a:t>7. Publish graph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E0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53796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6C78"/>
                </a:solidFill>
              </a:defRPr>
            </a:pPr>
            <a:r>
              <a:t>Semantica supports pattern, ML and LLM semantic extraction; pattern extraction works without an API key.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7"/>
                </a:solidFill>
              </a:defRPr>
            </a:pPr>
            <a:r>
              <a:t>ABC Ontology: Make Architecture Meaning Explicit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4846320" cy="4480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62D38"/>
                </a:solidFill>
              </a:defRPr>
            </a:pPr>
            <a:r>
              <a:t>ABC Classes</a:t>
            </a:r>
            <a:br/>
            <a:br/>
            <a:r>
              <a:t>• Application</a:t>
            </a:r>
            <a:br/>
            <a:r>
              <a:t>• Service</a:t>
            </a:r>
            <a:br/>
            <a:r>
              <a:t>• API</a:t>
            </a:r>
            <a:br/>
            <a:r>
              <a:t>• KafkaTopic</a:t>
            </a:r>
            <a:br/>
            <a:r>
              <a:t>• Database</a:t>
            </a:r>
            <a:br/>
            <a:r>
              <a:t>• Technology</a:t>
            </a:r>
            <a:br/>
            <a:r>
              <a:t>• BusinessCapability</a:t>
            </a:r>
            <a:br/>
            <a:r>
              <a:t>• BusinessDomain</a:t>
            </a:r>
            <a:br/>
            <a:r>
              <a:t>• Team</a:t>
            </a:r>
            <a:br/>
            <a:r>
              <a:t>• Environment</a:t>
            </a:r>
            <a:br/>
            <a:r>
              <a:t>• ExternalSystem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6440" y="1234440"/>
            <a:ext cx="5394960" cy="4480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654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62D38"/>
                </a:solidFill>
              </a:defRPr>
            </a:pPr>
            <a:r>
              <a:t>ABC Relationships</a:t>
            </a:r>
            <a:br/>
            <a:br/>
            <a:r>
              <a:t>• depends_on</a:t>
            </a:r>
            <a:br/>
            <a:r>
              <a:t>• exposes_api</a:t>
            </a:r>
            <a:br/>
            <a:r>
              <a:t>• consumes_api</a:t>
            </a:r>
            <a:br/>
            <a:r>
              <a:t>• publishes_event</a:t>
            </a:r>
            <a:br/>
            <a:r>
              <a:t>• consumes_event</a:t>
            </a:r>
            <a:br/>
            <a:r>
              <a:t>• uses_database</a:t>
            </a:r>
            <a:br/>
            <a:r>
              <a:t>• uses_technology</a:t>
            </a:r>
            <a:br/>
            <a:r>
              <a:t>• supports_capability</a:t>
            </a:r>
            <a:br/>
            <a:r>
              <a:t>• owned_by</a:t>
            </a:r>
            <a:br/>
            <a:r>
              <a:t>• deployed_in</a:t>
            </a:r>
            <a:br/>
            <a:r>
              <a:t>• integrates_with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5806440"/>
            <a:ext cx="8046720" cy="502920"/>
          </a:xfrm>
          <a:prstGeom prst="roundRect">
            <a:avLst/>
          </a:prstGeom>
          <a:solidFill>
            <a:srgbClr val="141F37"/>
          </a:solidFill>
          <a:ln w="12700">
            <a:solidFill>
              <a:srgbClr val="141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Ontology = the contract for what ABC means, what relationships are allowed, and what must be present.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E0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53796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6C78"/>
                </a:solidFill>
              </a:defRPr>
            </a:pPr>
            <a:r>
              <a:t>Semantica ontology supports OWL/RDFS modeling, SHACL validation, alignment and OWL/RDF export.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7"/>
                </a:solidFill>
              </a:defRPr>
            </a:pPr>
            <a:r>
              <a:t>Provenance: The Graph Must Point Back to DeepWiki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2743200" cy="914400"/>
          </a:xfrm>
          <a:prstGeom prst="roundRect">
            <a:avLst/>
          </a:prstGeom>
          <a:solidFill>
            <a:srgbClr val="3060A0"/>
          </a:solidFill>
          <a:ln w="12700">
            <a:solidFill>
              <a:srgbClr val="3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Payment 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463040"/>
            <a:ext cx="2743200" cy="914400"/>
          </a:xfrm>
          <a:prstGeom prst="roundRect">
            <a:avLst/>
          </a:prstGeom>
          <a:solidFill>
            <a:srgbClr val="654E96"/>
          </a:solidFill>
          <a:ln w="12700">
            <a:solidFill>
              <a:srgbClr val="654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depends_on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1463040"/>
            <a:ext cx="2743200" cy="914400"/>
          </a:xfrm>
          <a:prstGeom prst="roundRect">
            <a:avLst/>
          </a:prstGeom>
          <a:solidFill>
            <a:srgbClr val="208487"/>
          </a:solidFill>
          <a:ln w="12700">
            <a:solidFill>
              <a:srgbClr val="208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Customer Service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0" y="1920240"/>
            <a:ext cx="1143000" cy="0"/>
          </a:xfrm>
          <a:prstGeom prst="line">
            <a:avLst/>
          </a:prstGeom>
          <a:ln w="27940">
            <a:solidFill>
              <a:srgbClr val="306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452360" y="1920240"/>
            <a:ext cx="1143000" cy="0"/>
          </a:xfrm>
          <a:prstGeom prst="line">
            <a:avLst/>
          </a:prstGeom>
          <a:ln w="27940">
            <a:solidFill>
              <a:srgbClr val="306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34640" y="2971800"/>
            <a:ext cx="6583680" cy="19659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262D38"/>
                </a:solidFill>
              </a:defRPr>
            </a:pPr>
            <a:r>
              <a:t>Evidence / Lineage</a:t>
            </a:r>
            <a:br/>
            <a:br/>
            <a:r>
              <a:t>source_file: deepwiki_docs/payment-service/architecture.md</a:t>
            </a:r>
            <a:br/>
            <a:r>
              <a:t>source_section: Dependencies</a:t>
            </a:r>
            <a:br/>
            <a:r>
              <a:t>extraction_method: abc_markdown_rules / Semantica extractor</a:t>
            </a:r>
            <a:br/>
            <a:r>
              <a:t>confidence: 1.0</a:t>
            </a:r>
            <a:br/>
            <a:r>
              <a:t>source_id / timestamp: retained by Semantica provenance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0" y="5349240"/>
            <a:ext cx="8869680" cy="594360"/>
          </a:xfrm>
          <a:prstGeom prst="roundRect">
            <a:avLst/>
          </a:prstGeom>
          <a:solidFill>
            <a:srgbClr val="EBF4EE"/>
          </a:solidFill>
          <a:ln w="12700">
            <a:solidFill>
              <a:srgbClr val="2E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62D38"/>
                </a:solidFill>
              </a:defRPr>
            </a:pPr>
            <a:r>
              <a:t>Question: “Why does the graph say these applications are connected?” → answer with source evidence.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E0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653796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6C78"/>
                </a:solidFill>
              </a:defRPr>
            </a:pPr>
            <a:r>
              <a:t>Semantica states provenance is built into graph construction and uses source lineage; W3C PROV-O support is documented.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7"/>
                </a:solidFill>
              </a:defRPr>
            </a:pPr>
            <a:r>
              <a:t>Significant Use #1: Dependency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194560" cy="777240"/>
          </a:xfrm>
          <a:prstGeom prst="roundRect">
            <a:avLst/>
          </a:prstGeom>
          <a:solidFill>
            <a:srgbClr val="208487"/>
          </a:solidFill>
          <a:ln w="12700">
            <a:solidFill>
              <a:srgbClr val="208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Customer 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960120"/>
            <a:ext cx="2194560" cy="777240"/>
          </a:xfrm>
          <a:prstGeom prst="roundRect">
            <a:avLst/>
          </a:prstGeom>
          <a:solidFill>
            <a:srgbClr val="3060A0"/>
          </a:solidFill>
          <a:ln w="12700">
            <a:solidFill>
              <a:srgbClr val="3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Payment 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965960"/>
            <a:ext cx="2194560" cy="777240"/>
          </a:xfrm>
          <a:prstGeom prst="roundRect">
            <a:avLst/>
          </a:prstGeom>
          <a:solidFill>
            <a:srgbClr val="654E96"/>
          </a:solidFill>
          <a:ln w="12700">
            <a:solidFill>
              <a:srgbClr val="654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Fraud 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463040"/>
            <a:ext cx="2194560" cy="777240"/>
          </a:xfrm>
          <a:prstGeom prst="roundRect">
            <a:avLst/>
          </a:prstGeom>
          <a:solidFill>
            <a:srgbClr val="DD822D"/>
          </a:solidFill>
          <a:ln w="12700">
            <a:solidFill>
              <a:srgbClr val="DD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Notification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743200" y="1325880"/>
            <a:ext cx="868680" cy="457200"/>
          </a:xfrm>
          <a:prstGeom prst="line">
            <a:avLst/>
          </a:prstGeom>
          <a:ln w="27940">
            <a:solidFill>
              <a:srgbClr val="306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743200" y="1783080"/>
            <a:ext cx="868680" cy="548640"/>
          </a:xfrm>
          <a:prstGeom prst="line">
            <a:avLst/>
          </a:prstGeom>
          <a:ln w="27940">
            <a:solidFill>
              <a:srgbClr val="306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43200" y="1783080"/>
            <a:ext cx="3977640" cy="45720"/>
          </a:xfrm>
          <a:prstGeom prst="line">
            <a:avLst/>
          </a:prstGeom>
          <a:ln w="27940">
            <a:solidFill>
              <a:srgbClr val="306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464040" y="1188720"/>
            <a:ext cx="2057400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62D38"/>
                </a:solidFill>
              </a:defRPr>
            </a:pPr>
            <a:r>
              <a:t>Queries</a:t>
            </a:r>
            <a:br/>
            <a:br/>
            <a:r>
              <a:t>Who depends on X?</a:t>
            </a:r>
            <a:br/>
            <a:br/>
            <a:r>
              <a:t>Who does X depend on?</a:t>
            </a:r>
            <a:br/>
            <a:br/>
            <a:r>
              <a:t>What is the shortest path?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40480"/>
            <a:ext cx="10424160" cy="1645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62D38"/>
                </a:solidFill>
              </a:defRPr>
            </a:pPr>
            <a:r>
              <a:t>Direct dependencies become explicit graph edges.</a:t>
            </a:r>
          </a:p>
          <a:p>
            <a:pPr>
              <a:spcAft>
                <a:spcPts val="800"/>
              </a:spcAft>
              <a:defRPr sz="1700" b="0">
                <a:solidFill>
                  <a:srgbClr val="262D38"/>
                </a:solidFill>
              </a:defRPr>
            </a:pPr>
            <a:r>
              <a:t>Reverse dependencies can be found without searching every Markdown file.</a:t>
            </a:r>
          </a:p>
          <a:p>
            <a:pPr>
              <a:spcAft>
                <a:spcPts val="800"/>
              </a:spcAft>
              <a:defRPr sz="1700" b="0">
                <a:solidFill>
                  <a:srgbClr val="262D38"/>
                </a:solidFill>
              </a:defRPr>
            </a:pPr>
            <a:r>
              <a:t>Multi-hop traversal reveals indirect dependencies.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E0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653796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6C78"/>
                </a:solidFill>
              </a:defRPr>
            </a:pPr>
            <a:r>
              <a:t>Graph traversal and multi-hop queries are core knowledge-graph/GraphRAG capabilities.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7"/>
                </a:solidFill>
              </a:defRPr>
            </a:pPr>
            <a:r>
              <a:t>Significant Use #2: Change Impact / Blast-Radius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2560320" cy="914400"/>
          </a:xfrm>
          <a:prstGeom prst="roundRect">
            <a:avLst/>
          </a:prstGeom>
          <a:solidFill>
            <a:srgbClr val="B23A3A"/>
          </a:solidFill>
          <a:ln w="12700">
            <a:solidFill>
              <a:srgbClr val="B2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Change</a:t>
            </a:r>
            <a:br/>
            <a:r>
              <a:t>Customer API v2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337560" y="1828800"/>
            <a:ext cx="502920" cy="0"/>
          </a:xfrm>
          <a:prstGeom prst="line">
            <a:avLst/>
          </a:prstGeom>
          <a:ln w="31750">
            <a:solidFill>
              <a:srgbClr val="B2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886200" y="1143000"/>
            <a:ext cx="2468880" cy="13716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B2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62D38"/>
                </a:solidFill>
              </a:defRPr>
            </a:pPr>
            <a:r>
              <a:t>API Consumers</a:t>
            </a:r>
            <a:br/>
            <a:r>
              <a:t>Payment</a:t>
            </a:r>
            <a:br/>
            <a:r>
              <a:t>Fraud</a:t>
            </a:r>
            <a:br/>
            <a:r>
              <a:t>Notification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0" y="1828800"/>
            <a:ext cx="502920" cy="0"/>
          </a:xfrm>
          <a:prstGeom prst="line">
            <a:avLst/>
          </a:prstGeom>
          <a:ln w="31750">
            <a:solidFill>
              <a:srgbClr val="B2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949440" y="1051560"/>
            <a:ext cx="2468880" cy="1554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62D38"/>
                </a:solidFill>
              </a:defRPr>
            </a:pPr>
            <a:r>
              <a:t>Dependent capabilities</a:t>
            </a:r>
            <a:br/>
            <a:r>
              <a:t>Payments</a:t>
            </a:r>
            <a:br/>
            <a:r>
              <a:t>Fraud Detection</a:t>
            </a:r>
            <a:br/>
            <a:r>
              <a:t>Customer Communication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464040" y="1828800"/>
            <a:ext cx="502920" cy="0"/>
          </a:xfrm>
          <a:prstGeom prst="line">
            <a:avLst/>
          </a:prstGeom>
          <a:ln w="31750">
            <a:solidFill>
              <a:srgbClr val="B2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0012680" y="1234440"/>
            <a:ext cx="1508760" cy="1188720"/>
          </a:xfrm>
          <a:prstGeom prst="roundRect">
            <a:avLst/>
          </a:prstGeom>
          <a:solidFill>
            <a:srgbClr val="DD822D"/>
          </a:solidFill>
          <a:ln w="12700">
            <a:solidFill>
              <a:srgbClr val="DD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Change</a:t>
            </a:r>
            <a:br/>
            <a:r>
              <a:t>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3703320"/>
            <a:ext cx="9966960" cy="1188720"/>
          </a:xfrm>
          <a:prstGeom prst="roundRect">
            <a:avLst/>
          </a:prstGeom>
          <a:solidFill>
            <a:srgbClr val="EBF4EE"/>
          </a:solidFill>
          <a:ln w="12700">
            <a:solidFill>
              <a:srgbClr val="2E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62D38"/>
                </a:solidFill>
              </a:defRPr>
            </a:pPr>
            <a:r>
              <a:t>Graph traversal + source provenance → identify documented impact candidates and show exactly which DeepWiki evidence supports each dependency.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E0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653796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6C78"/>
                </a:solidFill>
              </a:defRPr>
            </a:pPr>
            <a:r>
              <a:t>Semantica graph traversal, provenance and change-management capabilities support this pattern; impact conclusions remain evidence-based and should be reviewed.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7"/>
                </a:solidFill>
              </a:defRPr>
            </a:pPr>
            <a:r>
              <a:t>Significant Use #3: Architecture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80160"/>
            <a:ext cx="5349240" cy="56692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2E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62D38"/>
                </a:solidFill>
              </a:defRPr>
            </a:pPr>
            <a:r>
              <a:t>Every Production Application has an Owner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349240" cy="56692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2E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62D38"/>
                </a:solidFill>
              </a:defRPr>
            </a:pPr>
            <a:r>
              <a:t>Every Production Application maps to a Business Capability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11680"/>
            <a:ext cx="5349240" cy="56692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2E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62D38"/>
                </a:solidFill>
              </a:defRPr>
            </a:pPr>
            <a:r>
              <a:t>Every API has an owning Application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349240" cy="56692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2E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62D38"/>
                </a:solidFill>
              </a:defRPr>
            </a:pPr>
            <a:r>
              <a:t>Every Kafka consumer identifies a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743200"/>
            <a:ext cx="5349240" cy="56692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2E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62D38"/>
                </a:solidFill>
              </a:defRPr>
            </a:pPr>
            <a:r>
              <a:t>Every Application has an Environment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43200"/>
            <a:ext cx="5349240" cy="56692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2E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62D38"/>
                </a:solidFill>
              </a:defRPr>
            </a:pPr>
            <a:r>
              <a:t>Conflicting architecture facts are surfaced, not silently merged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4251960"/>
            <a:ext cx="4023360" cy="1143000"/>
          </a:xfrm>
          <a:prstGeom prst="roundRect">
            <a:avLst/>
          </a:prstGeom>
          <a:solidFill>
            <a:srgbClr val="FAEFE5"/>
          </a:solidFill>
          <a:ln w="12700">
            <a:solidFill>
              <a:srgbClr val="DD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62D38"/>
                </a:solidFill>
              </a:defRPr>
            </a:pPr>
            <a:r>
              <a:t>Governance report</a:t>
            </a:r>
            <a:br/>
            <a:br/>
            <a:r>
              <a:t>HIGH  Missing owner: 12</a:t>
            </a:r>
            <a:br/>
            <a:r>
              <a:t>MEDIUM  Missing capability: 7</a:t>
            </a:r>
            <a:br/>
            <a:r>
              <a:t>CONFLICT  Java version mismatch: 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E0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653796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6C78"/>
                </a:solidFill>
              </a:defRPr>
            </a:pPr>
            <a:r>
              <a:t>Semantica ontology/SHACL module supports shape generation and graph validation; deterministic ABC rules are also recommended.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7"/>
                </a:solidFill>
              </a:defRPr>
            </a:pPr>
            <a:r>
              <a:t>Significant Use #4: Architecture Drift &amp; Change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017520" cy="3566160"/>
          </a:xfrm>
          <a:prstGeom prst="roundRect">
            <a:avLst/>
          </a:prstGeom>
          <a:solidFill>
            <a:srgbClr val="E7F1FC"/>
          </a:solidFill>
          <a:ln w="12700">
            <a:solidFill>
              <a:srgbClr val="3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62D38"/>
                </a:solidFill>
              </a:defRPr>
            </a:pPr>
            <a:r>
              <a:t>Baseline</a:t>
            </a:r>
            <a:br/>
            <a:br/>
            <a:r>
              <a:t>APP001 → Java 17</a:t>
            </a:r>
            <a:br/>
            <a:r>
              <a:t>APP002 → Customer API v1</a:t>
            </a:r>
            <a:br/>
            <a:r>
              <a:t>APP003 → Kafka topic X</a:t>
            </a:r>
            <a:br/>
            <a:br/>
            <a:r>
              <a:t>Snapshot T1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977639" y="3063240"/>
            <a:ext cx="594361" cy="0"/>
          </a:xfrm>
          <a:prstGeom prst="line">
            <a:avLst/>
          </a:prstGeom>
          <a:ln w="25400">
            <a:solidFill>
              <a:srgbClr val="64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617720" y="1280160"/>
            <a:ext cx="3017520" cy="3566160"/>
          </a:xfrm>
          <a:prstGeom prst="roundRect">
            <a:avLst/>
          </a:prstGeom>
          <a:solidFill>
            <a:srgbClr val="EBF4EE"/>
          </a:solidFill>
          <a:ln w="12700">
            <a:solidFill>
              <a:srgbClr val="2E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62D38"/>
                </a:solidFill>
              </a:defRPr>
            </a:pPr>
            <a:r>
              <a:t>New state</a:t>
            </a:r>
            <a:br/>
            <a:br/>
            <a:r>
              <a:t>APP001 → Java 21</a:t>
            </a:r>
            <a:br/>
            <a:r>
              <a:t>APP002 → Customer API v2</a:t>
            </a:r>
            <a:br/>
            <a:r>
              <a:t>APP003 → Kafka topic X</a:t>
            </a:r>
            <a:br/>
            <a:r>
              <a:t>APP004 → new dependency</a:t>
            </a:r>
            <a:br/>
            <a:br/>
            <a:r>
              <a:t>Snapshot T2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863840" y="3063240"/>
            <a:ext cx="594360" cy="0"/>
          </a:xfrm>
          <a:prstGeom prst="line">
            <a:avLst/>
          </a:prstGeom>
          <a:ln w="25400">
            <a:solidFill>
              <a:srgbClr val="64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503920" y="1280160"/>
            <a:ext cx="2834640" cy="3566160"/>
          </a:xfrm>
          <a:prstGeom prst="roundRect">
            <a:avLst/>
          </a:prstGeom>
          <a:solidFill>
            <a:srgbClr val="FAEFE5"/>
          </a:solidFill>
          <a:ln w="12700">
            <a:solidFill>
              <a:srgbClr val="DD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62D38"/>
                </a:solidFill>
              </a:defRPr>
            </a:pPr>
            <a:r>
              <a:t>Diff</a:t>
            </a:r>
            <a:br/>
            <a:br/>
            <a:r>
              <a:t>+ Technology change</a:t>
            </a:r>
            <a:br/>
            <a:r>
              <a:t>+ API change</a:t>
            </a:r>
            <a:br/>
            <a:r>
              <a:t>+ New dependency</a:t>
            </a:r>
            <a:br/>
            <a:br/>
            <a:r>
              <a:t>Architecture review gate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E0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53796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6C78"/>
                </a:solidFill>
              </a:defRPr>
            </a:pPr>
            <a:r>
              <a:t>Semantica documents TemporalVersionManager for snapshots, diffs, rollback and checksum verification; temporal knowledge graphs support point-in-time reasoning.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7"/>
                </a:solidFill>
              </a:defRPr>
            </a:pPr>
            <a:r>
              <a:t>Significant Use #5: GraphRAG for the ABC Architecture 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1965960" cy="914400"/>
          </a:xfrm>
          <a:prstGeom prst="roundRect">
            <a:avLst/>
          </a:prstGeom>
          <a:solidFill>
            <a:srgbClr val="141F37"/>
          </a:solidFill>
          <a:ln w="12700">
            <a:solidFill>
              <a:srgbClr val="141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User question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14600" y="1965960"/>
            <a:ext cx="411480" cy="0"/>
          </a:xfrm>
          <a:prstGeom prst="line">
            <a:avLst/>
          </a:prstGeom>
          <a:ln w="27940">
            <a:solidFill>
              <a:srgbClr val="306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971800" y="1188720"/>
            <a:ext cx="2011680" cy="2468880"/>
          </a:xfrm>
          <a:prstGeom prst="roundRect">
            <a:avLst/>
          </a:prstGeom>
          <a:solidFill>
            <a:srgbClr val="F2EDFA"/>
          </a:solidFill>
          <a:ln w="12700">
            <a:solidFill>
              <a:srgbClr val="654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62D38"/>
                </a:solidFill>
              </a:defRPr>
            </a:pPr>
            <a:r>
              <a:t>Hybrid retrieval</a:t>
            </a:r>
            <a:br/>
            <a:br/>
            <a:r>
              <a:t>Vector search</a:t>
            </a:r>
            <a:br/>
            <a:r>
              <a:t>+</a:t>
            </a:r>
            <a:br/>
            <a:r>
              <a:t>Graph traversal</a:t>
            </a:r>
            <a:br/>
            <a:r>
              <a:t>+</a:t>
            </a:r>
            <a:br/>
            <a:r>
              <a:t>Source evidence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1965960"/>
            <a:ext cx="411480" cy="0"/>
          </a:xfrm>
          <a:prstGeom prst="line">
            <a:avLst/>
          </a:prstGeom>
          <a:ln w="27940">
            <a:solidFill>
              <a:srgbClr val="306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486400" y="1188720"/>
            <a:ext cx="2011680" cy="2468880"/>
          </a:xfrm>
          <a:prstGeom prst="roundRect">
            <a:avLst/>
          </a:prstGeom>
          <a:solidFill>
            <a:srgbClr val="EBF4EE"/>
          </a:solidFill>
          <a:ln w="12700">
            <a:solidFill>
              <a:srgbClr val="2E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62D38"/>
                </a:solidFill>
              </a:defRPr>
            </a:pPr>
            <a:r>
              <a:t>Context builder</a:t>
            </a:r>
            <a:br/>
            <a:br/>
            <a:r>
              <a:t>Facts</a:t>
            </a:r>
            <a:br/>
            <a:r>
              <a:t>Relationships</a:t>
            </a:r>
            <a:br/>
            <a:r>
              <a:t>Paths</a:t>
            </a:r>
            <a:br/>
            <a:r>
              <a:t>Confidence</a:t>
            </a:r>
            <a:br/>
            <a:r>
              <a:t>Sources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543800" y="1965960"/>
            <a:ext cx="411479" cy="0"/>
          </a:xfrm>
          <a:prstGeom prst="line">
            <a:avLst/>
          </a:prstGeom>
          <a:ln w="27940">
            <a:solidFill>
              <a:srgbClr val="306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001000" y="1188720"/>
            <a:ext cx="1737360" cy="2468880"/>
          </a:xfrm>
          <a:prstGeom prst="roundRect">
            <a:avLst/>
          </a:prstGeom>
          <a:solidFill>
            <a:srgbClr val="FAEFE5"/>
          </a:solidFill>
          <a:ln w="12700">
            <a:solidFill>
              <a:srgbClr val="DD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62D38"/>
                </a:solidFill>
              </a:defRPr>
            </a:pPr>
            <a:r>
              <a:t>LLM</a:t>
            </a:r>
            <a:br/>
            <a:br/>
            <a:r>
              <a:t>Explain</a:t>
            </a:r>
            <a:br/>
            <a:r>
              <a:t>Synthesize</a:t>
            </a:r>
            <a:br/>
            <a:r>
              <a:t>Answer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784080" y="1965960"/>
            <a:ext cx="411480" cy="0"/>
          </a:xfrm>
          <a:prstGeom prst="line">
            <a:avLst/>
          </a:prstGeom>
          <a:ln w="27940">
            <a:solidFill>
              <a:srgbClr val="306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241280" y="1188720"/>
            <a:ext cx="1417320" cy="2468880"/>
          </a:xfrm>
          <a:prstGeom prst="roundRect">
            <a:avLst/>
          </a:prstGeom>
          <a:solidFill>
            <a:srgbClr val="3060A0"/>
          </a:solidFill>
          <a:ln w="12700">
            <a:solidFill>
              <a:srgbClr val="3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Answer</a:t>
            </a:r>
            <a:br/>
            <a:r>
              <a:t>+</a:t>
            </a:r>
            <a:br/>
            <a:r>
              <a:t>Sources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343400"/>
            <a:ext cx="10058400" cy="1051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62D38"/>
                </a:solidFill>
              </a:defRPr>
            </a:pPr>
            <a:r>
              <a:t>Example: “What could be impacted if Customer Service changes its API?”</a:t>
            </a:r>
            <a:br/>
            <a:r>
              <a:t>Vector retrieval finds relevant documentation; graph traversal finds consumers/dependencies; provenance provides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E0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653796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6C78"/>
                </a:solidFill>
              </a:defRPr>
            </a:pPr>
            <a:r>
              <a:t>Semantica ContextRetriever is documented as hybrid vector + graph retrieval; GraphRAG combines structured graph context with vector-similar text.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7"/>
                </a:solidFill>
              </a:defRPr>
            </a:pPr>
            <a:r>
              <a:t>Additional Significant Uses Across ABC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2743200" cy="658368"/>
          </a:xfrm>
          <a:prstGeom prst="roundRect">
            <a:avLst/>
          </a:prstGeom>
          <a:solidFill>
            <a:srgbClr val="3060A0"/>
          </a:solidFill>
          <a:ln w="12700">
            <a:solidFill>
              <a:srgbClr val="3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Technology modernization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0440" y="1234440"/>
            <a:ext cx="7863840" cy="65836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62D38"/>
                </a:solidFill>
              </a:defRPr>
            </a:pPr>
            <a:r>
              <a:t>Find all production apps using Java 11 / Spring Boot 2 / Oracle; traverse to owners and capabilities.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39112"/>
            <a:ext cx="2743200" cy="658368"/>
          </a:xfrm>
          <a:prstGeom prst="roundRect">
            <a:avLst/>
          </a:prstGeom>
          <a:solidFill>
            <a:srgbClr val="208487"/>
          </a:solidFill>
          <a:ln w="12700">
            <a:solidFill>
              <a:srgbClr val="208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Kafka topology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2039112"/>
            <a:ext cx="7863840" cy="65836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62D38"/>
                </a:solidFill>
              </a:defRPr>
            </a:pPr>
            <a:r>
              <a:t>Identify producers, consumers, orphan topics and impact of topic/schema changes.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843784"/>
            <a:ext cx="2743200" cy="658368"/>
          </a:xfrm>
          <a:prstGeom prst="roundRect">
            <a:avLst/>
          </a:prstGeom>
          <a:solidFill>
            <a:srgbClr val="2E7D55"/>
          </a:solidFill>
          <a:ln w="12700">
            <a:solidFill>
              <a:srgbClr val="2E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Business-to-technology mapping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843784"/>
            <a:ext cx="7863840" cy="65836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62D38"/>
                </a:solidFill>
              </a:defRPr>
            </a:pPr>
            <a:r>
              <a:t>Business Capability → applications → APIs → data → infrastructure.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648456"/>
            <a:ext cx="2743200" cy="658368"/>
          </a:xfrm>
          <a:prstGeom prst="roundRect">
            <a:avLst/>
          </a:prstGeom>
          <a:solidFill>
            <a:srgbClr val="654E96"/>
          </a:solidFill>
          <a:ln w="12700">
            <a:solidFill>
              <a:srgbClr val="654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Application rationalization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3648456"/>
            <a:ext cx="7863840" cy="65836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62D38"/>
                </a:solidFill>
              </a:defRPr>
            </a:pPr>
            <a:r>
              <a:t>Find duplicate capabilities, overlapping dependencies and candidates for consolidation.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453128"/>
            <a:ext cx="2743200" cy="658368"/>
          </a:xfrm>
          <a:prstGeom prst="roundRect">
            <a:avLst/>
          </a:prstGeom>
          <a:solidFill>
            <a:srgbClr val="DD822D"/>
          </a:solidFill>
          <a:ln w="12700">
            <a:solidFill>
              <a:srgbClr val="DD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Data lineage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4453128"/>
            <a:ext cx="7863840" cy="65836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62D38"/>
                </a:solidFill>
              </a:defRPr>
            </a:pPr>
            <a:r>
              <a:t>Application → database → data entity → consuming applications, with evidence.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5257800"/>
            <a:ext cx="2743200" cy="658368"/>
          </a:xfrm>
          <a:prstGeom prst="roundRect">
            <a:avLst/>
          </a:prstGeom>
          <a:solidFill>
            <a:srgbClr val="B23A3A"/>
          </a:solidFill>
          <a:ln w="12700">
            <a:solidFill>
              <a:srgbClr val="B2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Ownership &amp; accountability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5257800"/>
            <a:ext cx="7863840" cy="65836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62D38"/>
                </a:solidFill>
              </a:defRPr>
            </a:pPr>
            <a:r>
              <a:t>Map application → team → owner → business capability; identify gaps.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E0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653796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6C78"/>
                </a:solidFill>
              </a:defRPr>
            </a:pPr>
            <a:r>
              <a:t>These are ABC application-landscape use cases derived from the documented graph, ontology, reasoning, provenance and context capabilities.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7"/>
                </a:solidFill>
              </a:defRPr>
            </a:pPr>
            <a:r>
              <a:t>What Semantica Is — and Is Not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5166360" cy="4480560"/>
          </a:xfrm>
          <a:prstGeom prst="roundRect">
            <a:avLst/>
          </a:prstGeom>
          <a:solidFill>
            <a:srgbClr val="EBF4EE"/>
          </a:solidFill>
          <a:ln w="12700">
            <a:solidFill>
              <a:srgbClr val="2E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62D38"/>
                </a:solidFill>
              </a:defRPr>
            </a:pPr>
            <a:r>
              <a:t>SEMANTICA IS</a:t>
            </a:r>
            <a:br/>
            <a:br/>
            <a:r>
              <a:t>✓ Semantic/context infrastructure</a:t>
            </a:r>
            <a:br/>
            <a:r>
              <a:t>✓ Knowledge graph + ontology</a:t>
            </a:r>
            <a:br/>
            <a:r>
              <a:t>✓ Provenance &amp; auditability</a:t>
            </a:r>
            <a:br/>
            <a:r>
              <a:t>✓ GraphRAG / hybrid retrieval</a:t>
            </a:r>
            <a:br/>
            <a:r>
              <a:t>✓ Reasoning &amp; policy/context</a:t>
            </a:r>
            <a:br/>
            <a:r>
              <a:t>✓ Change and temporal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80160"/>
            <a:ext cx="5166360" cy="4480560"/>
          </a:xfrm>
          <a:prstGeom prst="roundRect">
            <a:avLst/>
          </a:prstGeom>
          <a:solidFill>
            <a:srgbClr val="FAEFE5"/>
          </a:solidFill>
          <a:ln w="12700">
            <a:solidFill>
              <a:srgbClr val="B2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62D38"/>
                </a:solidFill>
              </a:defRPr>
            </a:pPr>
            <a:r>
              <a:t>SEMANTICA IS NOT</a:t>
            </a:r>
            <a:br/>
            <a:br/>
            <a:r>
              <a:t>✕ Not an LLM</a:t>
            </a:r>
            <a:br/>
            <a:r>
              <a:t>✕ Not a replacement for DeepWiki</a:t>
            </a:r>
            <a:br/>
            <a:r>
              <a:t>✕ Not automatically a perfect architecture model</a:t>
            </a:r>
            <a:br/>
            <a:r>
              <a:t>✕ Not a guarantee that LLM answers are true</a:t>
            </a:r>
            <a:br/>
            <a:r>
              <a:t>✕ Not a substitute for architecture governance</a:t>
            </a:r>
            <a:br/>
            <a:r>
              <a:t>✕ Not a reason to graph every word in every document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E0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3796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6C78"/>
                </a:solidFill>
              </a:defRPr>
            </a:pPr>
            <a:r>
              <a:t>Semantica explicitly states it is deterministic infrastructure, not a model, and system-level explainability does not expose foundation-model chain-of-thought.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7"/>
                </a:solidFill>
              </a:defRPr>
            </a:pPr>
            <a:r>
              <a:t>Target ABC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11247120" cy="566928"/>
          </a:xfrm>
          <a:prstGeom prst="roundRect">
            <a:avLst/>
          </a:prstGeom>
          <a:solidFill>
            <a:srgbClr val="141F37"/>
          </a:solidFill>
          <a:ln w="12700">
            <a:solidFill>
              <a:srgbClr val="141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ABC Source Repositories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810512"/>
            <a:ext cx="0" cy="246888"/>
          </a:xfrm>
          <a:prstGeom prst="line">
            <a:avLst/>
          </a:prstGeom>
          <a:ln w="27940">
            <a:solidFill>
              <a:srgbClr val="306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2057400"/>
            <a:ext cx="11247120" cy="566928"/>
          </a:xfrm>
          <a:prstGeom prst="roundRect">
            <a:avLst/>
          </a:prstGeom>
          <a:solidFill>
            <a:srgbClr val="3060A0"/>
          </a:solidFill>
          <a:ln w="12700">
            <a:solidFill>
              <a:srgbClr val="3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DeepWiki — application understanding + Markdown knowledge base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2633472"/>
            <a:ext cx="0" cy="246888"/>
          </a:xfrm>
          <a:prstGeom prst="line">
            <a:avLst/>
          </a:prstGeom>
          <a:ln w="27940">
            <a:solidFill>
              <a:srgbClr val="306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" y="2880360"/>
            <a:ext cx="3474720" cy="10058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3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62D38"/>
                </a:solidFill>
              </a:defRPr>
            </a:pPr>
            <a:r>
              <a:t>DeepWiki RAG</a:t>
            </a:r>
            <a:br/>
            <a:r>
              <a:t>Document retrieval / Q&amp;A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880360"/>
            <a:ext cx="3474720" cy="1005840"/>
          </a:xfrm>
          <a:prstGeom prst="roundRect">
            <a:avLst/>
          </a:prstGeom>
          <a:solidFill>
            <a:srgbClr val="F2EDFA"/>
          </a:solidFill>
          <a:ln w="12700">
            <a:solidFill>
              <a:srgbClr val="654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62D38"/>
                </a:solidFill>
              </a:defRPr>
            </a:pPr>
            <a:r>
              <a:t>Semantica</a:t>
            </a:r>
            <a:br/>
            <a:r>
              <a:t>Graph + ontology + provenance + reasoning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880360"/>
            <a:ext cx="3474720" cy="10058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08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62D38"/>
                </a:solidFill>
              </a:defRPr>
            </a:pPr>
            <a:r>
              <a:t>Enterprise data</a:t>
            </a:r>
            <a:br/>
            <a:r>
              <a:t>APIs / DB / Kafka / CMDB (future)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3913632"/>
            <a:ext cx="0" cy="246888"/>
          </a:xfrm>
          <a:prstGeom prst="line">
            <a:avLst/>
          </a:prstGeom>
          <a:ln w="27940">
            <a:solidFill>
              <a:srgbClr val="306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" y="4160520"/>
            <a:ext cx="11247120" cy="777240"/>
          </a:xfrm>
          <a:prstGeom prst="roundRect">
            <a:avLst/>
          </a:prstGeom>
          <a:solidFill>
            <a:srgbClr val="2E7D55"/>
          </a:solidFill>
          <a:ln w="12700">
            <a:solidFill>
              <a:srgbClr val="2E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ABC Application Landscape Graph — persistent, governed, source-linked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4956048"/>
            <a:ext cx="0" cy="256032"/>
          </a:xfrm>
          <a:prstGeom prst="line">
            <a:avLst/>
          </a:prstGeom>
          <a:ln w="27940">
            <a:solidFill>
              <a:srgbClr val="306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7200" y="5212080"/>
            <a:ext cx="3474720" cy="658368"/>
          </a:xfrm>
          <a:prstGeom prst="roundRect">
            <a:avLst/>
          </a:prstGeom>
          <a:solidFill>
            <a:srgbClr val="E7F1FC"/>
          </a:solidFill>
          <a:ln w="12700">
            <a:solidFill>
              <a:srgbClr val="3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62D38"/>
                </a:solidFill>
              </a:defRPr>
            </a:pPr>
            <a:r>
              <a:t>Dependency / Impact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5212080"/>
            <a:ext cx="3474720" cy="658368"/>
          </a:xfrm>
          <a:prstGeom prst="roundRect">
            <a:avLst/>
          </a:prstGeom>
          <a:solidFill>
            <a:srgbClr val="EBF4EE"/>
          </a:solidFill>
          <a:ln w="12700">
            <a:solidFill>
              <a:srgbClr val="2E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62D38"/>
                </a:solidFill>
              </a:defRPr>
            </a:pPr>
            <a:r>
              <a:t>Governance / Drift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5212080"/>
            <a:ext cx="3474720" cy="658368"/>
          </a:xfrm>
          <a:prstGeom prst="roundRect">
            <a:avLst/>
          </a:prstGeom>
          <a:solidFill>
            <a:srgbClr val="FAEFE5"/>
          </a:solidFill>
          <a:ln w="12700">
            <a:solidFill>
              <a:srgbClr val="DD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62D38"/>
                </a:solidFill>
              </a:defRPr>
            </a:pPr>
            <a:r>
              <a:t>GraphRAG / Agent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E0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653796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6C78"/>
                </a:solidFill>
              </a:defRPr>
            </a:pPr>
            <a:r>
              <a:t>Target architecture combines documented Semantica modules with the ABC-specific DeepWiki integration pattern.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7"/>
                </a:solidFill>
              </a:defRPr>
            </a:pPr>
            <a:r>
              <a:t>Recommended ABC Adoption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417320"/>
            <a:ext cx="2221992" cy="4114800"/>
          </a:xfrm>
          <a:prstGeom prst="roundRect">
            <a:avLst/>
          </a:prstGeom>
          <a:solidFill>
            <a:srgbClr val="3060A0"/>
          </a:solidFill>
          <a:ln w="12700">
            <a:solidFill>
              <a:srgbClr val="3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Phase 1 — POC</a:t>
            </a:r>
            <a:br/>
            <a:br/>
            <a:r>
              <a:t>20–50 apps</a:t>
            </a:r>
            <a:br/>
            <a:r>
              <a:t>Deterministic Markdown extraction</a:t>
            </a:r>
            <a:br/>
            <a:r>
              <a:t>Graph + provenance</a:t>
            </a:r>
            <a:br/>
            <a:r>
              <a:t>5 acceptance queries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417320"/>
            <a:ext cx="2221992" cy="4114800"/>
          </a:xfrm>
          <a:prstGeom prst="roundRect">
            <a:avLst/>
          </a:prstGeom>
          <a:solidFill>
            <a:srgbClr val="2E7D55"/>
          </a:solidFill>
          <a:ln w="12700">
            <a:solidFill>
              <a:srgbClr val="2E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Phase 2 — Govern</a:t>
            </a:r>
            <a:br/>
            <a:br/>
            <a:r>
              <a:t>ABC ontology</a:t>
            </a:r>
            <a:br/>
            <a:r>
              <a:t>SHACL rules</a:t>
            </a:r>
            <a:br/>
            <a:r>
              <a:t>Conflict detection</a:t>
            </a:r>
            <a:br/>
            <a:r>
              <a:t>Evidence + confidence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417320"/>
            <a:ext cx="2221992" cy="4114800"/>
          </a:xfrm>
          <a:prstGeom prst="roundRect">
            <a:avLst/>
          </a:prstGeom>
          <a:solidFill>
            <a:srgbClr val="654E96"/>
          </a:solidFill>
          <a:ln w="12700">
            <a:solidFill>
              <a:srgbClr val="654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Phase 3 — Scale</a:t>
            </a:r>
            <a:br/>
            <a:br/>
            <a:r>
              <a:t>Hundreds/thousands of apps</a:t>
            </a:r>
            <a:br/>
            <a:r>
              <a:t>Persistent graph</a:t>
            </a:r>
            <a:br/>
            <a:r>
              <a:t>Incremental/delta processing</a:t>
            </a:r>
            <a:br/>
            <a:r>
              <a:t>Graph snapshots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417320"/>
            <a:ext cx="2221992" cy="4114800"/>
          </a:xfrm>
          <a:prstGeom prst="roundRect">
            <a:avLst/>
          </a:prstGeom>
          <a:solidFill>
            <a:srgbClr val="DD822D"/>
          </a:solidFill>
          <a:ln w="12700">
            <a:solidFill>
              <a:srgbClr val="DD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Phase 4 — Intelligence</a:t>
            </a:r>
            <a:br/>
            <a:br/>
            <a:r>
              <a:t>GraphRAG</a:t>
            </a:r>
            <a:br/>
            <a:r>
              <a:t>Architecture Agent</a:t>
            </a:r>
            <a:br/>
            <a:r>
              <a:t>Impact reports</a:t>
            </a:r>
            <a:br/>
            <a:r>
              <a:t>Technology modernization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38359" y="1417320"/>
            <a:ext cx="2221992" cy="4114800"/>
          </a:xfrm>
          <a:prstGeom prst="roundRect">
            <a:avLst/>
          </a:prstGeom>
          <a:solidFill>
            <a:srgbClr val="141F37"/>
          </a:solidFill>
          <a:ln w="12700">
            <a:solidFill>
              <a:srgbClr val="141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Phase 5 — Enterprise</a:t>
            </a:r>
            <a:br/>
            <a:br/>
            <a:r>
              <a:t>Multi-source ingestion</a:t>
            </a:r>
            <a:br/>
            <a:r>
              <a:t>CMDB / APIs / Kafka / DB</a:t>
            </a:r>
            <a:br/>
            <a:r>
              <a:t>Policy &amp; decision tracking</a:t>
            </a:r>
            <a:br/>
            <a:r>
              <a:t>Operational integration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5806440"/>
            <a:ext cx="8412480" cy="457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62D38"/>
                </a:solidFill>
              </a:defRPr>
            </a:pPr>
            <a:r>
              <a:t>Do not scale until the graph is demonstrably more useful than document search for relationship-heavy questions.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E0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653796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6C78"/>
                </a:solidFill>
              </a:defRPr>
            </a:pPr>
            <a:r>
              <a:t>Roadmap is an ABC architecture recommendation, not a Semantica product roadmap.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7"/>
                </a:solidFill>
              </a:defRPr>
            </a:pPr>
            <a:r>
              <a:t>POC Acceptance Criteria — Prove Significant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07040" cy="44805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62D38"/>
                </a:solidFill>
              </a:defRPr>
            </a:pPr>
            <a:r>
              <a:t>1. What applications depend on Customer Service?</a:t>
            </a:r>
          </a:p>
          <a:p>
            <a:pPr>
              <a:spcAft>
                <a:spcPts val="800"/>
              </a:spcAft>
              <a:defRPr sz="1800" b="0">
                <a:solidFill>
                  <a:srgbClr val="262D38"/>
                </a:solidFill>
              </a:defRPr>
            </a:pPr>
            <a:r>
              <a:t>2. What is the documented blast radius if Customer Service API changes?</a:t>
            </a:r>
          </a:p>
          <a:p>
            <a:pPr>
              <a:spcAft>
                <a:spcPts val="800"/>
              </a:spcAft>
              <a:defRPr sz="1800" b="0">
                <a:solidFill>
                  <a:srgbClr val="262D38"/>
                </a:solidFill>
              </a:defRPr>
            </a:pPr>
            <a:r>
              <a:t>3. Who produces and consumes Kafka topic customer.updated?</a:t>
            </a:r>
          </a:p>
          <a:p>
            <a:pPr>
              <a:spcAft>
                <a:spcPts val="800"/>
              </a:spcAft>
              <a:defRPr sz="1800" b="0">
                <a:solidFill>
                  <a:srgbClr val="262D38"/>
                </a:solidFill>
              </a:defRPr>
            </a:pPr>
            <a:r>
              <a:t>4. Which production applications use Java 11?</a:t>
            </a:r>
          </a:p>
          <a:p>
            <a:pPr>
              <a:spcAft>
                <a:spcPts val="800"/>
              </a:spcAft>
              <a:defRPr sz="1800" b="0">
                <a:solidFill>
                  <a:srgbClr val="262D38"/>
                </a:solidFill>
              </a:defRPr>
            </a:pPr>
            <a:r>
              <a:t>5. Which applications support the Payments capability?</a:t>
            </a:r>
          </a:p>
          <a:p>
            <a:pPr>
              <a:spcAft>
                <a:spcPts val="800"/>
              </a:spcAft>
              <a:defRPr sz="1800" b="0">
                <a:solidFill>
                  <a:srgbClr val="262D38"/>
                </a:solidFill>
              </a:defRPr>
            </a:pPr>
            <a:r>
              <a:t>6. Which production applications have no owner or business capability?</a:t>
            </a:r>
          </a:p>
          <a:p>
            <a:pPr>
              <a:spcAft>
                <a:spcPts val="800"/>
              </a:spcAft>
              <a:defRPr sz="1800" b="0">
                <a:solidFill>
                  <a:srgbClr val="262D38"/>
                </a:solidFill>
              </a:defRPr>
            </a:pPr>
            <a:r>
              <a:t>7. Which architecture relationships changed between two documentation snapshots?</a:t>
            </a:r>
          </a:p>
          <a:p>
            <a:pPr>
              <a:spcAft>
                <a:spcPts val="800"/>
              </a:spcAft>
              <a:defRPr sz="1800" b="0">
                <a:solidFill>
                  <a:srgbClr val="262D38"/>
                </a:solidFill>
              </a:defRPr>
            </a:pPr>
            <a:r>
              <a:t>8. Can every high-impact relationship be traced back to its DeepWiki source?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5577840"/>
            <a:ext cx="9784080" cy="594360"/>
          </a:xfrm>
          <a:prstGeom prst="roundRect">
            <a:avLst/>
          </a:prstGeom>
          <a:solidFill>
            <a:srgbClr val="2E7D55"/>
          </a:solidFill>
          <a:ln w="12700">
            <a:solidFill>
              <a:srgbClr val="2E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Success = accurate, source-linked answers with less manual cross-document analysis.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E0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3796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6C78"/>
                </a:solidFill>
              </a:defRPr>
            </a:pPr>
            <a:r>
              <a:t>Recommended ABC acceptance test derived from the proposed Application Landscape Graph architecture.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700" b="1">
                <a:solidFill>
                  <a:srgbClr val="FFFFFF"/>
                </a:solidFill>
              </a:defRPr>
            </a:pPr>
            <a:r>
              <a:t>DeepWiki tells ABC what the applications' documentation says.</a:t>
            </a:r>
          </a:p>
          <a:p>
            <a:pPr>
              <a:spcAft>
                <a:spcPts val="1800"/>
              </a:spcAft>
              <a:defRPr sz="2700" b="1">
                <a:solidFill>
                  <a:srgbClr val="A5E0D3"/>
                </a:solidFill>
              </a:defRPr>
            </a:pPr>
            <a:r>
              <a:t>Semantica turns selected facts from that documentation into a governed, queryable relationship layer.</a:t>
            </a:r>
          </a:p>
          <a:p>
            <a:pPr>
              <a:defRPr sz="2400">
                <a:solidFill>
                  <a:srgbClr val="D7E1EF"/>
                </a:solidFill>
              </a:defRPr>
            </a:pPr>
            <a:r>
              <a:t>The strategic value is not another chatbot — it is enterprise-wide dependency, impact, governance, provenance and architecture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5257800"/>
            <a:ext cx="8503920" cy="685800"/>
          </a:xfrm>
          <a:prstGeom prst="roundRect">
            <a:avLst/>
          </a:prstGeom>
          <a:solidFill>
            <a:srgbClr val="208487"/>
          </a:solidFill>
          <a:ln w="12700">
            <a:solidFill>
              <a:srgbClr val="208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DeepWiki + Semantica + GraphRAG + LLM = Evidence-backed Application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E0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3796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6C78"/>
                </a:solidFill>
              </a:defRPr>
            </a:pPr>
            <a:r>
              <a:t>Semantica current capabilities: docs.getsemantica.ai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7"/>
                </a:solidFill>
              </a:defRPr>
            </a:pPr>
            <a:r>
              <a:t>Sources &amp;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07040" cy="43891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62D38"/>
                </a:solidFill>
              </a:defRPr>
            </a:pPr>
            <a:r>
              <a:t>Semantica — Architecture: https://docs.getsemantica.ai/architecture/</a:t>
            </a:r>
          </a:p>
          <a:p>
            <a:pPr>
              <a:spcAft>
                <a:spcPts val="800"/>
              </a:spcAft>
              <a:defRPr sz="1600" b="0">
                <a:solidFill>
                  <a:srgbClr val="262D38"/>
                </a:solidFill>
              </a:defRPr>
            </a:pPr>
            <a:r>
              <a:t>Semantica — Getting Started: https://docs.getsemantica.ai/getting-started/</a:t>
            </a:r>
          </a:p>
          <a:p>
            <a:pPr>
              <a:spcAft>
                <a:spcPts val="800"/>
              </a:spcAft>
              <a:defRPr sz="1600" b="0">
                <a:solidFill>
                  <a:srgbClr val="262D38"/>
                </a:solidFill>
              </a:defRPr>
            </a:pPr>
            <a:r>
              <a:t>Semantica — Core Concepts: https://docs.getsemantica.ai/concepts/</a:t>
            </a:r>
          </a:p>
          <a:p>
            <a:pPr>
              <a:spcAft>
                <a:spcPts val="800"/>
              </a:spcAft>
              <a:defRPr sz="1600" b="0">
                <a:solidFill>
                  <a:srgbClr val="262D38"/>
                </a:solidFill>
              </a:defRPr>
            </a:pPr>
            <a:r>
              <a:t>Semantica — Context Module: https://docs.getsemantica.ai/reference/context/</a:t>
            </a:r>
          </a:p>
          <a:p>
            <a:pPr>
              <a:spcAft>
                <a:spcPts val="800"/>
              </a:spcAft>
              <a:defRPr sz="1600" b="0">
                <a:solidFill>
                  <a:srgbClr val="262D38"/>
                </a:solidFill>
              </a:defRPr>
            </a:pPr>
            <a:r>
              <a:t>Semantica — Ontology Module: https://docs.getsemantica.ai/reference/ontology/</a:t>
            </a:r>
          </a:p>
          <a:p>
            <a:pPr>
              <a:spcAft>
                <a:spcPts val="800"/>
              </a:spcAft>
              <a:defRPr sz="1600" b="0">
                <a:solidFill>
                  <a:srgbClr val="262D38"/>
                </a:solidFill>
              </a:defRPr>
            </a:pPr>
            <a:r>
              <a:t>Semantica — Change Management &amp; Versioning: https://docs.getsemantica.ai/guides/change-management/</a:t>
            </a:r>
          </a:p>
          <a:p>
            <a:pPr>
              <a:spcAft>
                <a:spcPts val="800"/>
              </a:spcAft>
              <a:defRPr sz="1600" b="0">
                <a:solidFill>
                  <a:srgbClr val="262D38"/>
                </a:solidFill>
              </a:defRPr>
            </a:pPr>
            <a:r>
              <a:t>Semantica — Modules: https://docs.getsemantica.ai/modules/</a:t>
            </a:r>
          </a:p>
          <a:p>
            <a:pPr>
              <a:spcAft>
                <a:spcPts val="800"/>
              </a:spcAft>
              <a:defRPr sz="1600" b="0">
                <a:solidFill>
                  <a:srgbClr val="262D38"/>
                </a:solidFill>
              </a:defRPr>
            </a:pPr>
            <a:r>
              <a:t>Semantica — Quickstart: https://docs.getsemantica.ai/quickstart/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5577840"/>
            <a:ext cx="9966960" cy="5486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62D38"/>
                </a:solidFill>
              </a:defRPr>
            </a:pPr>
            <a:r>
              <a:t>Presentation separates documented Semantica capabilities from ABC-specific architectural recommendations.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E0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3796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6C78"/>
                </a:solidFill>
              </a:defRPr>
            </a:pPr>
            <a:r>
              <a:t>Sources accessed/reviewed Sep 26,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